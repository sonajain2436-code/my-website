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al" charset="1" panose="020B0604020202020204"/>
      <p:regular r:id="rId12"/>
    </p:embeddedFont>
    <p:embeddedFont>
      <p:font typeface="Times New Roman Bold" charset="1" panose="02020803070505020304"/>
      <p:regular r:id="rId13"/>
    </p:embeddedFont>
    <p:embeddedFont>
      <p:font typeface="Calibri (MS) Bold" charset="1" panose="020F0702030404030204"/>
      <p:regular r:id="rId14"/>
    </p:embeddedFont>
    <p:embeddedFont>
      <p:font typeface="Arial Bold" charset="1" panose="020B0704020202020204"/>
      <p:regular r:id="rId15"/>
    </p:embeddedFont>
    <p:embeddedFont>
      <p:font typeface="Arimo Bold" charset="1" panose="020B0704020202020204"/>
      <p:regular r:id="rId16"/>
    </p:embeddedFont>
    <p:embeddedFont>
      <p:font typeface="CanvaSansSC-Regular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14" Target="../media/image24.png" Type="http://schemas.openxmlformats.org/officeDocument/2006/relationships/image"/><Relationship Id="rId15" Target="../media/image25.png" Type="http://schemas.openxmlformats.org/officeDocument/2006/relationships/image"/><Relationship Id="rId16" Target="../media/image26.png" Type="http://schemas.openxmlformats.org/officeDocument/2006/relationships/image"/><Relationship Id="rId17" Target="../media/image27.png" Type="http://schemas.openxmlformats.org/officeDocument/2006/relationships/image"/><Relationship Id="rId18" Target="../media/image28.png" Type="http://schemas.openxmlformats.org/officeDocument/2006/relationships/image"/><Relationship Id="rId19" Target="../media/image29.png" Type="http://schemas.openxmlformats.org/officeDocument/2006/relationships/image"/><Relationship Id="rId2" Target="../media/image12.jpeg" Type="http://schemas.openxmlformats.org/officeDocument/2006/relationships/image"/><Relationship Id="rId20" Target="../media/image30.png" Type="http://schemas.openxmlformats.org/officeDocument/2006/relationships/image"/><Relationship Id="rId21" Target="../media/image31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embeddings/oleObject1.bin" Type="http://schemas.openxmlformats.org/officeDocument/2006/relationships/oleObject"/><Relationship Id="rId12" Target="../media/image38.pn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arxiv.org/abs/2304.09761" TargetMode="External" Type="http://schemas.openxmlformats.org/officeDocument/2006/relationships/hyperlink"/><Relationship Id="rId11" Target="https://agmarknet.gov.in" TargetMode="External" Type="http://schemas.openxmlformats.org/officeDocument/2006/relationships/hyperlink"/><Relationship Id="rId12" Target="https://ideas.repec.org/a/tpr/restat/v100y2018i1p1-13.html" TargetMode="External" Type="http://schemas.openxmlformats.org/officeDocument/2006/relationships/hyperlink"/><Relationship Id="rId13" Target="https://github.com/yatikjain318-dot/krishisetu" TargetMode="External" Type="http://schemas.openxmlformats.org/officeDocument/2006/relationships/hyperlink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43.png" Type="http://schemas.openxmlformats.org/officeDocument/2006/relationships/image"/><Relationship Id="rId8" Target="../embeddings/oleObject2.bin" Type="http://schemas.openxmlformats.org/officeDocument/2006/relationships/oleObject"/><Relationship Id="rId9" Target="https://krishisetu-fqk5-theta.vercel.app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73920" y="3528586"/>
            <a:ext cx="5706341" cy="6028378"/>
            <a:chOff x="0" y="0"/>
            <a:chExt cx="8583397" cy="906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83422" cy="9067800"/>
            </a:xfrm>
            <a:custGeom>
              <a:avLst/>
              <a:gdLst/>
              <a:ahLst/>
              <a:cxnLst/>
              <a:rect r="r" b="b" t="t" l="l"/>
              <a:pathLst>
                <a:path h="9067800" w="8583422">
                  <a:moveTo>
                    <a:pt x="0" y="0"/>
                  </a:moveTo>
                  <a:lnTo>
                    <a:pt x="8583422" y="0"/>
                  </a:lnTo>
                  <a:lnTo>
                    <a:pt x="8583422" y="9067800"/>
                  </a:lnTo>
                  <a:lnTo>
                    <a:pt x="0" y="906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l="0" t="0" r="-2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64372" y="2974358"/>
            <a:ext cx="11076931" cy="7060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11"/>
              </a:lnSpc>
            </a:pPr>
            <a:r>
              <a:rPr lang="en-US" sz="4471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● Problem statement id -</a:t>
            </a:r>
            <a:r>
              <a:rPr lang="en-US" sz="4471">
                <a:solidFill>
                  <a:srgbClr val="7ED95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7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SIH26132</a:t>
            </a:r>
          </a:p>
          <a:p>
            <a:pPr algn="just">
              <a:lnSpc>
                <a:spcPts val="6211"/>
              </a:lnSpc>
            </a:pPr>
            <a:r>
              <a:rPr lang="en-US" sz="4471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● Problem statement title - </a:t>
            </a:r>
            <a:r>
              <a:rPr lang="en-US" sz="447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Strengthening market linkages and price discovery for farmers</a:t>
            </a:r>
          </a:p>
          <a:p>
            <a:pPr algn="just">
              <a:lnSpc>
                <a:spcPts val="6211"/>
              </a:lnSpc>
            </a:pPr>
            <a:r>
              <a:rPr lang="en-US" sz="4471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● Theme-</a:t>
            </a:r>
            <a:r>
              <a:rPr lang="en-US" sz="447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7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Agriculture ,Food tech ,Rural             Developement</a:t>
            </a:r>
          </a:p>
          <a:p>
            <a:pPr algn="just">
              <a:lnSpc>
                <a:spcPts val="6211"/>
              </a:lnSpc>
            </a:pPr>
            <a:r>
              <a:rPr lang="en-US" sz="4471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● PS category - </a:t>
            </a:r>
            <a:r>
              <a:rPr lang="en-US" sz="447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algn="just">
              <a:lnSpc>
                <a:spcPts val="6211"/>
              </a:lnSpc>
            </a:pPr>
            <a:r>
              <a:rPr lang="en-US" sz="4471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● Team id -</a:t>
            </a:r>
            <a:r>
              <a:rPr lang="en-US" sz="447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14</a:t>
            </a:r>
          </a:p>
          <a:p>
            <a:pPr algn="just">
              <a:lnSpc>
                <a:spcPts val="6211"/>
              </a:lnSpc>
            </a:pPr>
            <a:r>
              <a:rPr lang="en-US" sz="4471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● Team name -</a:t>
            </a:r>
            <a:r>
              <a:rPr lang="en-US" sz="4471">
                <a:solidFill>
                  <a:srgbClr val="7ED95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7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Debuggers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32007" y="363915"/>
            <a:ext cx="10343380" cy="926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4"/>
              </a:lnSpc>
              <a:spcBef>
                <a:spcPct val="0"/>
              </a:spcBef>
            </a:pPr>
            <a:r>
              <a:rPr lang="en-US" b="true" sz="5828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INDIA HACKATHON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522354" y="2240062"/>
            <a:ext cx="6765646" cy="7518788"/>
          </a:xfrm>
          <a:custGeom>
            <a:avLst/>
            <a:gdLst/>
            <a:ahLst/>
            <a:cxnLst/>
            <a:rect r="r" b="b" t="t" l="l"/>
            <a:pathLst>
              <a:path h="7518788" w="6765646">
                <a:moveTo>
                  <a:pt x="0" y="0"/>
                </a:moveTo>
                <a:lnTo>
                  <a:pt x="6765646" y="0"/>
                </a:lnTo>
                <a:lnTo>
                  <a:pt x="6765646" y="7518788"/>
                </a:lnTo>
                <a:lnTo>
                  <a:pt x="0" y="75187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733594" y="49397"/>
            <a:ext cx="3374774" cy="1593504"/>
            <a:chOff x="0" y="0"/>
            <a:chExt cx="4499699" cy="21246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23371" y="-89555"/>
            <a:ext cx="2950430" cy="1427876"/>
          </a:xfrm>
          <a:custGeom>
            <a:avLst/>
            <a:gdLst/>
            <a:ahLst/>
            <a:cxnLst/>
            <a:rect r="r" b="b" t="t" l="l"/>
            <a:pathLst>
              <a:path h="1427876" w="2950430">
                <a:moveTo>
                  <a:pt x="0" y="0"/>
                </a:moveTo>
                <a:lnTo>
                  <a:pt x="2950431" y="0"/>
                </a:lnTo>
                <a:lnTo>
                  <a:pt x="2950431" y="1427876"/>
                </a:lnTo>
                <a:lnTo>
                  <a:pt x="0" y="14278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17253" y="123095"/>
            <a:ext cx="1740180" cy="905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</a:pPr>
            <a:r>
              <a:rPr lang="en-US" sz="2455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Debuggers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70129" y="-173230"/>
            <a:ext cx="3374774" cy="1593504"/>
            <a:chOff x="0" y="0"/>
            <a:chExt cx="4499699" cy="21246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0532" y="4441622"/>
            <a:ext cx="11289891" cy="3243909"/>
          </a:xfrm>
          <a:custGeom>
            <a:avLst/>
            <a:gdLst/>
            <a:ahLst/>
            <a:cxnLst/>
            <a:rect r="r" b="b" t="t" l="l"/>
            <a:pathLst>
              <a:path h="3243909" w="11289891">
                <a:moveTo>
                  <a:pt x="0" y="0"/>
                </a:moveTo>
                <a:lnTo>
                  <a:pt x="11289891" y="0"/>
                </a:lnTo>
                <a:lnTo>
                  <a:pt x="11289891" y="3243910"/>
                </a:lnTo>
                <a:lnTo>
                  <a:pt x="0" y="3243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-90415"/>
            <a:ext cx="2950430" cy="1427876"/>
          </a:xfrm>
          <a:custGeom>
            <a:avLst/>
            <a:gdLst/>
            <a:ahLst/>
            <a:cxnLst/>
            <a:rect r="r" b="b" t="t" l="l"/>
            <a:pathLst>
              <a:path h="1427876" w="2950430">
                <a:moveTo>
                  <a:pt x="0" y="0"/>
                </a:moveTo>
                <a:lnTo>
                  <a:pt x="2950430" y="0"/>
                </a:lnTo>
                <a:lnTo>
                  <a:pt x="2950430" y="1427875"/>
                </a:lnTo>
                <a:lnTo>
                  <a:pt x="0" y="14278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0532" y="1140799"/>
            <a:ext cx="11090580" cy="3186641"/>
          </a:xfrm>
          <a:custGeom>
            <a:avLst/>
            <a:gdLst/>
            <a:ahLst/>
            <a:cxnLst/>
            <a:rect r="r" b="b" t="t" l="l"/>
            <a:pathLst>
              <a:path h="3186641" w="11090580">
                <a:moveTo>
                  <a:pt x="0" y="0"/>
                </a:moveTo>
                <a:lnTo>
                  <a:pt x="11090580" y="0"/>
                </a:lnTo>
                <a:lnTo>
                  <a:pt x="11090580" y="3186641"/>
                </a:lnTo>
                <a:lnTo>
                  <a:pt x="0" y="3186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70532" y="7895082"/>
            <a:ext cx="11157674" cy="2556897"/>
          </a:xfrm>
          <a:custGeom>
            <a:avLst/>
            <a:gdLst/>
            <a:ahLst/>
            <a:cxnLst/>
            <a:rect r="r" b="b" t="t" l="l"/>
            <a:pathLst>
              <a:path h="2556897" w="11157674">
                <a:moveTo>
                  <a:pt x="0" y="0"/>
                </a:moveTo>
                <a:lnTo>
                  <a:pt x="11157674" y="0"/>
                </a:lnTo>
                <a:lnTo>
                  <a:pt x="11157674" y="2556896"/>
                </a:lnTo>
                <a:lnTo>
                  <a:pt x="0" y="25568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906434" y="1337460"/>
            <a:ext cx="7381566" cy="9066309"/>
          </a:xfrm>
          <a:custGeom>
            <a:avLst/>
            <a:gdLst/>
            <a:ahLst/>
            <a:cxnLst/>
            <a:rect r="r" b="b" t="t" l="l"/>
            <a:pathLst>
              <a:path h="9066309" w="7381566">
                <a:moveTo>
                  <a:pt x="0" y="0"/>
                </a:moveTo>
                <a:lnTo>
                  <a:pt x="7381566" y="0"/>
                </a:lnTo>
                <a:lnTo>
                  <a:pt x="7381566" y="9066309"/>
                </a:lnTo>
                <a:lnTo>
                  <a:pt x="0" y="90663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353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9165" y="100300"/>
            <a:ext cx="1740180" cy="905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</a:pPr>
            <a:r>
              <a:rPr lang="en-US" sz="2455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Debuggers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1904" y="1295423"/>
            <a:ext cx="5338048" cy="533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3"/>
              </a:lnSpc>
              <a:spcBef>
                <a:spcPct val="0"/>
              </a:spcBef>
            </a:pPr>
            <a:r>
              <a:rPr lang="en-US" b="true" sz="3002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Problem we are focusing on:-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666" y="1093810"/>
            <a:ext cx="808998" cy="888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4"/>
              </a:lnSpc>
            </a:pPr>
            <a:r>
              <a:rPr lang="en-US" b="true" sz="5117">
                <a:solidFill>
                  <a:srgbClr val="38A2FF"/>
                </a:solidFill>
                <a:latin typeface="Arimo Bold"/>
                <a:ea typeface="Arimo Bold"/>
                <a:cs typeface="Arimo Bold"/>
                <a:sym typeface="Arimo Bold"/>
              </a:rPr>
              <a:t>🔹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1904" y="4436217"/>
            <a:ext cx="3388638" cy="533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3"/>
              </a:lnSpc>
              <a:spcBef>
                <a:spcPct val="0"/>
              </a:spcBef>
            </a:pPr>
            <a:r>
              <a:rPr lang="en-US" b="true" sz="3002" strike="noStrike" u="none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0144" y="4338381"/>
            <a:ext cx="720723" cy="786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2"/>
              </a:lnSpc>
            </a:pPr>
            <a:r>
              <a:rPr lang="en-US" b="true" sz="4558">
                <a:solidFill>
                  <a:srgbClr val="38A2FF"/>
                </a:solidFill>
                <a:latin typeface="Arimo Bold"/>
                <a:ea typeface="Arimo Bold"/>
                <a:cs typeface="Arimo Bold"/>
                <a:sym typeface="Arimo Bold"/>
              </a:rPr>
              <a:t>🔹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129127" y="5316703"/>
            <a:ext cx="6615351" cy="41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187" indent="-241093" lvl="1">
              <a:lnSpc>
                <a:spcPts val="3126"/>
              </a:lnSpc>
              <a:spcBef>
                <a:spcPct val="0"/>
              </a:spcBef>
              <a:buFont typeface="Arial"/>
              <a:buChar char="•"/>
            </a:pPr>
            <a:r>
              <a:rPr lang="en-US" sz="2233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Give local price trends and best time to sell.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59532" y="5793375"/>
            <a:ext cx="7729990" cy="41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187" indent="-241093" lvl="1">
              <a:lnSpc>
                <a:spcPts val="3126"/>
              </a:lnSpc>
              <a:spcBef>
                <a:spcPct val="0"/>
              </a:spcBef>
              <a:buFont typeface="Arial"/>
              <a:buChar char="•"/>
            </a:pPr>
            <a:r>
              <a:rPr lang="en-US" sz="2233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Connect farmers/FPOs with verified buyers.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70532" y="6250997"/>
            <a:ext cx="8011655" cy="41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187" indent="-241093" lvl="1">
              <a:lnSpc>
                <a:spcPts val="3126"/>
              </a:lnSpc>
              <a:spcBef>
                <a:spcPct val="0"/>
              </a:spcBef>
              <a:buFont typeface="Arial"/>
              <a:buChar char="•"/>
            </a:pPr>
            <a:r>
              <a:rPr lang="en-US" sz="2233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Track payments and show buyer reliability scores.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19583" y="6660994"/>
            <a:ext cx="7220069" cy="41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187" indent="-241093" lvl="1">
              <a:lnSpc>
                <a:spcPts val="3126"/>
              </a:lnSpc>
              <a:spcBef>
                <a:spcPct val="0"/>
              </a:spcBef>
              <a:buFont typeface="Arial"/>
              <a:buChar char="•"/>
            </a:pPr>
            <a:r>
              <a:rPr lang="en-US" sz="2233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Provide grievance system for dispute resolution.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-70532" y="7104329"/>
            <a:ext cx="9488510" cy="42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186" indent="-241093" lvl="1">
              <a:lnSpc>
                <a:spcPts val="3126"/>
              </a:lnSpc>
              <a:spcBef>
                <a:spcPct val="0"/>
              </a:spcBef>
              <a:buFont typeface="Arial"/>
              <a:buChar char="•"/>
            </a:pPr>
            <a:r>
              <a:rPr lang="en-US" sz="2233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Track demand, supply, and earnings for better decisions.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1904" y="8012742"/>
            <a:ext cx="4934784" cy="533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3"/>
              </a:lnSpc>
              <a:spcBef>
                <a:spcPct val="0"/>
              </a:spcBef>
            </a:pPr>
            <a:r>
              <a:rPr lang="en-US" b="true" sz="3002" strike="noStrike" u="none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Uniqueness of the Solution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008" y="7828407"/>
            <a:ext cx="771657" cy="84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3"/>
              </a:lnSpc>
            </a:pPr>
            <a:r>
              <a:rPr lang="en-US" b="true" sz="4880">
                <a:solidFill>
                  <a:srgbClr val="38A2FF"/>
                </a:solidFill>
                <a:latin typeface="Arimo Bold"/>
                <a:ea typeface="Arimo Bold"/>
                <a:cs typeface="Arimo Bold"/>
                <a:sym typeface="Arimo Bold"/>
              </a:rPr>
              <a:t>🔹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008" y="8536561"/>
            <a:ext cx="3685697" cy="467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0775" indent="-275388" lvl="1">
              <a:lnSpc>
                <a:spcPts val="3571"/>
              </a:lnSpc>
              <a:spcBef>
                <a:spcPct val="0"/>
              </a:spcBef>
              <a:buFont typeface="Arial"/>
              <a:buChar char="•"/>
            </a:pPr>
            <a:r>
              <a:rPr lang="en-US" sz="2551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Integrated Logistics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0144" y="9089289"/>
            <a:ext cx="4547584" cy="451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4280" indent="-257140" lvl="1">
              <a:lnSpc>
                <a:spcPts val="3334"/>
              </a:lnSpc>
              <a:spcBef>
                <a:spcPct val="0"/>
              </a:spcBef>
              <a:buFont typeface="Arial"/>
              <a:buChar char="•"/>
            </a:pPr>
            <a:r>
              <a:rPr lang="en-US" sz="2382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Farmer‑Friendly Interface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09557" y="8450836"/>
            <a:ext cx="5109085" cy="48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201" indent="-278600" lvl="1">
              <a:lnSpc>
                <a:spcPts val="3613"/>
              </a:lnSpc>
              <a:spcBef>
                <a:spcPct val="0"/>
              </a:spcBef>
              <a:buFont typeface="Arial"/>
              <a:buChar char="•"/>
            </a:pPr>
            <a:r>
              <a:rPr lang="en-US" sz="2580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Grievance &amp; Dispute System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75665" y="8977101"/>
            <a:ext cx="3960446" cy="47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4743" indent="-282371" lvl="1">
              <a:lnSpc>
                <a:spcPts val="3662"/>
              </a:lnSpc>
              <a:spcBef>
                <a:spcPct val="0"/>
              </a:spcBef>
              <a:buFont typeface="Arial"/>
              <a:buChar char="•"/>
            </a:pPr>
            <a:r>
              <a:rPr lang="en-US" sz="2615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Analytics Dashboard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36756" y="9558504"/>
            <a:ext cx="4274444" cy="4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2939" indent="-266469" lvl="1">
              <a:lnSpc>
                <a:spcPts val="3455"/>
              </a:lnSpc>
              <a:spcBef>
                <a:spcPct val="0"/>
              </a:spcBef>
              <a:buFont typeface="Arial"/>
              <a:buChar char="•"/>
            </a:pPr>
            <a:r>
              <a:rPr lang="en-US" sz="2468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Buyer Reliability Ratings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7739" y="9578653"/>
            <a:ext cx="3514234" cy="44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551" indent="-259276" lvl="1">
              <a:lnSpc>
                <a:spcPts val="3362"/>
              </a:lnSpc>
              <a:spcBef>
                <a:spcPct val="0"/>
              </a:spcBef>
              <a:buFont typeface="Arial"/>
              <a:buChar char="•"/>
            </a:pPr>
            <a:r>
              <a:rPr lang="en-US" sz="2401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Hyper‑local Insights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87313" y="41876"/>
            <a:ext cx="3719121" cy="946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27"/>
              </a:lnSpc>
              <a:spcBef>
                <a:spcPct val="0"/>
              </a:spcBef>
            </a:pPr>
            <a:r>
              <a:rPr lang="en-US" b="true" sz="6023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Krishi Setu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-59532" y="1865342"/>
            <a:ext cx="10437971" cy="41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187" indent="-241093" lvl="1">
              <a:lnSpc>
                <a:spcPts val="3126"/>
              </a:lnSpc>
              <a:spcBef>
                <a:spcPct val="0"/>
              </a:spcBef>
              <a:buFont typeface="Arial"/>
              <a:buChar char="•"/>
            </a:pPr>
            <a:r>
              <a:rPr lang="en-US" sz="2233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Farmers &amp; FPOs lack clear visibility of prices, demand, and buyer needs.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-59532" y="2275339"/>
            <a:ext cx="9670732" cy="41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187" indent="-241093" lvl="1">
              <a:lnSpc>
                <a:spcPts val="3126"/>
              </a:lnSpc>
              <a:spcBef>
                <a:spcPct val="0"/>
              </a:spcBef>
              <a:buFont typeface="Arial"/>
              <a:buChar char="•"/>
            </a:pPr>
            <a:r>
              <a:rPr lang="en-US" sz="2233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Fragmented info on quality, logistics, storage &amp; payment reliability.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-59532" y="2685336"/>
            <a:ext cx="11607505" cy="81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187" indent="-241093" lvl="1">
              <a:lnSpc>
                <a:spcPts val="3126"/>
              </a:lnSpc>
              <a:spcBef>
                <a:spcPct val="0"/>
              </a:spcBef>
              <a:buFont typeface="Arial"/>
              <a:buChar char="•"/>
            </a:pPr>
            <a:r>
              <a:rPr lang="en-US" sz="2233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Urgent cash needs &amp; no storage → farmers sell early at low prices, losing bargaining power.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-59532" y="3450718"/>
            <a:ext cx="8688824" cy="41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187" indent="-241093" lvl="1">
              <a:lnSpc>
                <a:spcPts val="3126"/>
              </a:lnSpc>
              <a:spcBef>
                <a:spcPct val="0"/>
              </a:spcBef>
              <a:buFont typeface="Arial"/>
              <a:buChar char="•"/>
            </a:pPr>
            <a:r>
              <a:rPr lang="en-US" sz="2233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Buyers face issues with consistent supply &amp; quality checks.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-59532" y="4906706"/>
            <a:ext cx="8771454" cy="41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187" indent="-241093" lvl="1">
              <a:lnSpc>
                <a:spcPts val="3126"/>
              </a:lnSpc>
              <a:spcBef>
                <a:spcPct val="0"/>
              </a:spcBef>
              <a:buFont typeface="Arial"/>
              <a:buChar char="•"/>
            </a:pPr>
            <a:r>
              <a:rPr lang="en-US" sz="2233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Dashboard with mandi prices, demand, transport &amp; storage.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5772" y="328612"/>
            <a:ext cx="2428875" cy="1057275"/>
            <a:chOff x="0" y="0"/>
            <a:chExt cx="3238500" cy="140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38500" cy="1409700"/>
            </a:xfrm>
            <a:custGeom>
              <a:avLst/>
              <a:gdLst/>
              <a:ahLst/>
              <a:cxnLst/>
              <a:rect r="r" b="b" t="t" l="l"/>
              <a:pathLst>
                <a:path h="1409700" w="3238500">
                  <a:moveTo>
                    <a:pt x="0" y="704850"/>
                  </a:moveTo>
                  <a:cubicBezTo>
                    <a:pt x="0" y="315595"/>
                    <a:pt x="724916" y="0"/>
                    <a:pt x="1619250" y="0"/>
                  </a:cubicBezTo>
                  <a:cubicBezTo>
                    <a:pt x="2513584" y="0"/>
                    <a:pt x="3238500" y="315595"/>
                    <a:pt x="3238500" y="704850"/>
                  </a:cubicBezTo>
                  <a:cubicBezTo>
                    <a:pt x="3238500" y="1094105"/>
                    <a:pt x="2513584" y="1409700"/>
                    <a:pt x="1619250" y="1409700"/>
                  </a:cubicBezTo>
                  <a:cubicBezTo>
                    <a:pt x="724916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6A4C9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80060" y="342900"/>
            <a:ext cx="2400300" cy="1028700"/>
            <a:chOff x="0" y="0"/>
            <a:chExt cx="3200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00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3200400" cy="1466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438"/>
                </a:lnSpc>
                <a:spcBef>
                  <a:spcPct val="0"/>
                </a:spcBef>
              </a:pPr>
              <a:r>
                <a:rPr lang="en-US" b="true" sz="2455" strike="noStrike" u="non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</a:t>
              </a:r>
            </a:p>
            <a:p>
              <a:pPr algn="ctr" marL="0" indent="0" lvl="0">
                <a:lnSpc>
                  <a:spcPts val="3438"/>
                </a:lnSpc>
                <a:spcBef>
                  <a:spcPct val="0"/>
                </a:spcBef>
              </a:pPr>
              <a:r>
                <a:rPr lang="en-US" b="true" sz="2455" strike="noStrike" u="non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Debuggers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91840" y="274320"/>
            <a:ext cx="10012680" cy="960120"/>
            <a:chOff x="0" y="0"/>
            <a:chExt cx="1335024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3502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3201" r="0" b="-1532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33502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744700" y="164592"/>
            <a:ext cx="2948940" cy="1383944"/>
            <a:chOff x="0" y="0"/>
            <a:chExt cx="3931920" cy="1845259"/>
          </a:xfrm>
        </p:grpSpPr>
        <p:sp>
          <p:nvSpPr>
            <p:cNvPr name="Freeform 11" id="11" descr="/home/claude/sih_logo_crop2.png"/>
            <p:cNvSpPr/>
            <p:nvPr/>
          </p:nvSpPr>
          <p:spPr>
            <a:xfrm flipH="false" flipV="false" rot="0">
              <a:off x="0" y="0"/>
              <a:ext cx="3931920" cy="1845310"/>
            </a:xfrm>
            <a:custGeom>
              <a:avLst/>
              <a:gdLst/>
              <a:ahLst/>
              <a:cxnLst/>
              <a:rect r="r" b="b" t="t" l="l"/>
              <a:pathLst>
                <a:path h="184531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845310"/>
                  </a:lnTo>
                  <a:lnTo>
                    <a:pt x="0" y="1845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4" r="0" b="-52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rot="5392080">
            <a:off x="3213725" y="5687378"/>
            <a:ext cx="8248669" cy="0"/>
          </a:xfrm>
          <a:prstGeom prst="line">
            <a:avLst/>
          </a:prstGeom>
          <a:ln cap="rnd" w="9525">
            <a:solidFill>
              <a:srgbClr val="B9B9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480060" y="1591056"/>
            <a:ext cx="438912" cy="438912"/>
            <a:chOff x="0" y="0"/>
            <a:chExt cx="585216" cy="585216"/>
          </a:xfrm>
        </p:grpSpPr>
        <p:sp>
          <p:nvSpPr>
            <p:cNvPr name="Freeform 14" id="14" descr="/home/claude/icon_sparkle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01268" y="1508760"/>
            <a:ext cx="5212080" cy="576072"/>
            <a:chOff x="0" y="0"/>
            <a:chExt cx="6949440" cy="7680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49440" cy="768096"/>
            </a:xfrm>
            <a:custGeom>
              <a:avLst/>
              <a:gdLst/>
              <a:ahLst/>
              <a:cxnLst/>
              <a:rect r="r" b="b" t="t" l="l"/>
              <a:pathLst>
                <a:path h="768096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94944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D4E8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Technology Stack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80060" y="2138553"/>
            <a:ext cx="651510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875" b="true">
                <a:solidFill>
                  <a:srgbClr val="1D4E89"/>
                </a:solidFill>
                <a:latin typeface="Arial Bold"/>
                <a:ea typeface="Arial Bold"/>
                <a:cs typeface="Arial Bold"/>
                <a:sym typeface="Arial Bold"/>
              </a:rPr>
              <a:t>•  </a:t>
            </a:r>
            <a:r>
              <a:rPr lang="en-US" sz="1875" b="true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Frontend : </a:t>
            </a:r>
            <a:r>
              <a:rPr lang="en-US" sz="187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TypeScript + React, Tailwind CSS with custom design tokens UI Components: shadcn/ui (Radix UI primitives)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0060" y="3235833"/>
            <a:ext cx="6515100" cy="686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875" b="true">
                <a:solidFill>
                  <a:srgbClr val="1D4E89"/>
                </a:solidFill>
                <a:latin typeface="Arial Bold"/>
                <a:ea typeface="Arial Bold"/>
                <a:cs typeface="Arial Bold"/>
                <a:sym typeface="Arial Bold"/>
              </a:rPr>
              <a:t>•  </a:t>
            </a:r>
            <a:r>
              <a:rPr lang="en-US" sz="1875" b="true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Backend : </a:t>
            </a:r>
            <a:r>
              <a:rPr lang="en-US" sz="187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Node.js, Express.js, MongoDB, Socket.IO, PostgreSQL, Supabase.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0060" y="4003929"/>
            <a:ext cx="6515100" cy="522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875" b="true">
                <a:solidFill>
                  <a:srgbClr val="1D4E89"/>
                </a:solidFill>
                <a:latin typeface="Arial Bold"/>
                <a:ea typeface="Arial Bold"/>
                <a:cs typeface="Arial Bold"/>
                <a:sym typeface="Arial Bold"/>
              </a:rPr>
              <a:t>•  </a:t>
            </a:r>
            <a:r>
              <a:rPr lang="en-US" sz="1875" b="true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AI and ML : </a:t>
            </a:r>
            <a:r>
              <a:rPr lang="en-US" sz="187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ChatGPT-4 Model, Gemini 1.5 Pro Model.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0060" y="4607433"/>
            <a:ext cx="6515100" cy="686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875" b="true">
                <a:solidFill>
                  <a:srgbClr val="1D4E89"/>
                </a:solidFill>
                <a:latin typeface="Arial Bold"/>
                <a:ea typeface="Arial Bold"/>
                <a:cs typeface="Arial Bold"/>
                <a:sym typeface="Arial Bold"/>
              </a:rPr>
              <a:t>•  </a:t>
            </a:r>
            <a:r>
              <a:rPr lang="en-US" sz="1875" b="true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API services : </a:t>
            </a:r>
            <a:r>
              <a:rPr lang="en-US" sz="187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LinkedIn API, GitHub API, Auth0, Gmail, Supabase Auth.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0060" y="5375529"/>
            <a:ext cx="6515100" cy="522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875" b="true">
                <a:solidFill>
                  <a:srgbClr val="1D4E89"/>
                </a:solidFill>
                <a:latin typeface="Arial Bold"/>
                <a:ea typeface="Arial Bold"/>
                <a:cs typeface="Arial Bold"/>
                <a:sym typeface="Arial Bold"/>
              </a:rPr>
              <a:t>•  </a:t>
            </a:r>
            <a:r>
              <a:rPr lang="en-US" sz="1875" b="true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Cloud and Deployment : </a:t>
            </a:r>
            <a:r>
              <a:rPr lang="en-US" sz="187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AWS, Docker, GitHub, GitBook, GCP.</a:t>
            </a:r>
          </a:p>
        </p:txBody>
      </p:sp>
      <p:sp>
        <p:nvSpPr>
          <p:cNvPr name="AutoShape 23" id="23"/>
          <p:cNvSpPr/>
          <p:nvPr/>
        </p:nvSpPr>
        <p:spPr>
          <a:xfrm rot="7500">
            <a:off x="472907" y="6043994"/>
            <a:ext cx="6529407" cy="0"/>
          </a:xfrm>
          <a:prstGeom prst="line">
            <a:avLst/>
          </a:prstGeom>
          <a:ln cap="rnd" w="9525">
            <a:solidFill>
              <a:srgbClr val="C9C9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480060" y="6309360"/>
            <a:ext cx="6515100" cy="438912"/>
            <a:chOff x="0" y="0"/>
            <a:chExt cx="8686800" cy="5852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68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9231" r="0" b="-23923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86868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D4E8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 Stack Used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80060" y="6912864"/>
            <a:ext cx="685800" cy="685800"/>
            <a:chOff x="0" y="0"/>
            <a:chExt cx="914400" cy="914400"/>
          </a:xfrm>
        </p:grpSpPr>
        <p:sp>
          <p:nvSpPr>
            <p:cNvPr name="Freeform 28" id="28" descr="/home/claude/icon_nextjs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8580" y="7680960"/>
            <a:ext cx="1508760" cy="521208"/>
            <a:chOff x="0" y="0"/>
            <a:chExt cx="2011680" cy="6949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11680" cy="694944"/>
            </a:xfrm>
            <a:custGeom>
              <a:avLst/>
              <a:gdLst/>
              <a:ahLst/>
              <a:cxnLst/>
              <a:rect r="r" b="b" t="t" l="l"/>
              <a:pathLst>
                <a:path h="694944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2011680" cy="713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Next.js 15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937385" y="6912864"/>
            <a:ext cx="685800" cy="685800"/>
            <a:chOff x="0" y="0"/>
            <a:chExt cx="914400" cy="914400"/>
          </a:xfrm>
        </p:grpSpPr>
        <p:sp>
          <p:nvSpPr>
            <p:cNvPr name="Freeform 33" id="33" descr="/home/claude/icon_typescript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25905" y="7680960"/>
            <a:ext cx="1508760" cy="521208"/>
            <a:chOff x="0" y="0"/>
            <a:chExt cx="2011680" cy="69494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11680" cy="694944"/>
            </a:xfrm>
            <a:custGeom>
              <a:avLst/>
              <a:gdLst/>
              <a:ahLst/>
              <a:cxnLst/>
              <a:rect r="r" b="b" t="t" l="l"/>
              <a:pathLst>
                <a:path h="694944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2011680" cy="713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TypeScript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394710" y="6912864"/>
            <a:ext cx="685800" cy="685800"/>
            <a:chOff x="0" y="0"/>
            <a:chExt cx="914400" cy="914400"/>
          </a:xfrm>
        </p:grpSpPr>
        <p:sp>
          <p:nvSpPr>
            <p:cNvPr name="Freeform 38" id="38" descr="/home/claude/icon_tailwind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983230" y="7680960"/>
            <a:ext cx="1508760" cy="521208"/>
            <a:chOff x="0" y="0"/>
            <a:chExt cx="2011680" cy="6949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11680" cy="694944"/>
            </a:xfrm>
            <a:custGeom>
              <a:avLst/>
              <a:gdLst/>
              <a:ahLst/>
              <a:cxnLst/>
              <a:rect r="r" b="b" t="t" l="l"/>
              <a:pathLst>
                <a:path h="694944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2011680" cy="713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Tailwind CSS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852035" y="6912864"/>
            <a:ext cx="685800" cy="685800"/>
            <a:chOff x="0" y="0"/>
            <a:chExt cx="914400" cy="914400"/>
          </a:xfrm>
        </p:grpSpPr>
        <p:sp>
          <p:nvSpPr>
            <p:cNvPr name="Freeform 43" id="43" descr="/home/claude/icon_prisma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4440555" y="7680960"/>
            <a:ext cx="1508760" cy="521208"/>
            <a:chOff x="0" y="0"/>
            <a:chExt cx="2011680" cy="6949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11680" cy="694944"/>
            </a:xfrm>
            <a:custGeom>
              <a:avLst/>
              <a:gdLst/>
              <a:ahLst/>
              <a:cxnLst/>
              <a:rect r="r" b="b" t="t" l="l"/>
              <a:pathLst>
                <a:path h="694944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2011680" cy="713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Prisma ORM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309360" y="6912864"/>
            <a:ext cx="685800" cy="685800"/>
            <a:chOff x="0" y="0"/>
            <a:chExt cx="914400" cy="914400"/>
          </a:xfrm>
        </p:grpSpPr>
        <p:sp>
          <p:nvSpPr>
            <p:cNvPr name="Freeform 48" id="48" descr="/home/claude/icon_vercel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5897880" y="7680960"/>
            <a:ext cx="1508760" cy="521208"/>
            <a:chOff x="0" y="0"/>
            <a:chExt cx="2011680" cy="6949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11680" cy="694944"/>
            </a:xfrm>
            <a:custGeom>
              <a:avLst/>
              <a:gdLst/>
              <a:ahLst/>
              <a:cxnLst/>
              <a:rect r="r" b="b" t="t" l="l"/>
              <a:pathLst>
                <a:path h="694944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2011680" cy="713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Vercel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40180" y="8311896"/>
            <a:ext cx="754380" cy="754380"/>
            <a:chOff x="0" y="0"/>
            <a:chExt cx="1005840" cy="1005840"/>
          </a:xfrm>
        </p:grpSpPr>
        <p:sp>
          <p:nvSpPr>
            <p:cNvPr name="Freeform 53" id="53" descr="/home/claude/icon_mic.png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85800" y="9107424"/>
            <a:ext cx="2263140" cy="658368"/>
            <a:chOff x="0" y="0"/>
            <a:chExt cx="3017520" cy="87782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17520" cy="877824"/>
            </a:xfrm>
            <a:custGeom>
              <a:avLst/>
              <a:gdLst/>
              <a:ahLst/>
              <a:cxnLst/>
              <a:rect r="r" b="b" t="t" l="l"/>
              <a:pathLst>
                <a:path h="877824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79" r="0" b="-1697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301752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Web Speech API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4457700" y="8311896"/>
            <a:ext cx="754380" cy="754380"/>
            <a:chOff x="0" y="0"/>
            <a:chExt cx="1005840" cy="1005840"/>
          </a:xfrm>
        </p:grpSpPr>
        <p:sp>
          <p:nvSpPr>
            <p:cNvPr name="Freeform 58" id="58" descr="/home/claude/icon_globe.png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3703320" y="9107424"/>
            <a:ext cx="2263140" cy="658368"/>
            <a:chOff x="0" y="0"/>
            <a:chExt cx="3017520" cy="8778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017520" cy="877824"/>
            </a:xfrm>
            <a:custGeom>
              <a:avLst/>
              <a:gdLst/>
              <a:ahLst/>
              <a:cxnLst/>
              <a:rect r="r" b="b" t="t" l="l"/>
              <a:pathLst>
                <a:path h="877824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79" r="0" b="-1697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301752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12 Indian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Languages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886700" y="1700784"/>
            <a:ext cx="466344" cy="466344"/>
            <a:chOff x="0" y="0"/>
            <a:chExt cx="621792" cy="6217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6A4C93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7886700" y="1700784"/>
            <a:ext cx="466344" cy="466344"/>
            <a:chOff x="0" y="0"/>
            <a:chExt cx="621792" cy="6217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 rot="174180">
            <a:off x="8343281" y="1929194"/>
            <a:ext cx="376152" cy="0"/>
          </a:xfrm>
          <a:prstGeom prst="line">
            <a:avLst/>
          </a:prstGeom>
          <a:ln cap="rnd" w="9525">
            <a:solidFill>
              <a:srgbClr val="6A4C9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8" id="68"/>
          <p:cNvGrpSpPr/>
          <p:nvPr/>
        </p:nvGrpSpPr>
        <p:grpSpPr>
          <a:xfrm rot="0">
            <a:off x="8768715" y="1430655"/>
            <a:ext cx="9003030" cy="1006602"/>
            <a:chOff x="0" y="0"/>
            <a:chExt cx="12004040" cy="134213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00404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200404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1854942" y="0"/>
                  </a:lnTo>
                  <a:cubicBezTo>
                    <a:pt x="11937238" y="0"/>
                    <a:pt x="12004040" y="66802"/>
                    <a:pt x="12004040" y="149098"/>
                  </a:cubicBezTo>
                  <a:lnTo>
                    <a:pt x="12004040" y="1193038"/>
                  </a:lnTo>
                  <a:cubicBezTo>
                    <a:pt x="12004040" y="1275334"/>
                    <a:pt x="11937238" y="1342136"/>
                    <a:pt x="1185494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A4C93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8942832" y="1618488"/>
            <a:ext cx="630936" cy="630936"/>
            <a:chOff x="0" y="0"/>
            <a:chExt cx="841248" cy="84124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6A4C93">
                <a:alpha val="1961"/>
              </a:srgbClr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066276" y="1741932"/>
            <a:ext cx="384048" cy="384048"/>
            <a:chOff x="0" y="0"/>
            <a:chExt cx="512064" cy="512064"/>
          </a:xfrm>
        </p:grpSpPr>
        <p:sp>
          <p:nvSpPr>
            <p:cNvPr name="Freeform 73" id="73" descr="/home/claude/icon_user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59493" y="1413357"/>
            <a:ext cx="8613097" cy="1022148"/>
            <a:chOff x="0" y="0"/>
            <a:chExt cx="10479024" cy="12435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47902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0479024">
                  <a:moveTo>
                    <a:pt x="0" y="0"/>
                  </a:moveTo>
                  <a:lnTo>
                    <a:pt x="10479024" y="0"/>
                  </a:lnTo>
                  <a:lnTo>
                    <a:pt x="1047902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190" r="0" b="-11419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10479024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0"/>
                </a:lnSpc>
              </a:pPr>
              <a:r>
                <a:rPr lang="en-US" sz="1950" b="true">
                  <a:solidFill>
                    <a:srgbClr val="6A4C9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 ACCESS</a:t>
              </a:r>
            </a:p>
            <a:p>
              <a:pPr algn="l">
                <a:lnSpc>
                  <a:spcPts val="2039"/>
                </a:lnSpc>
              </a:pPr>
              <a:r>
                <a:rPr lang="en-US" sz="165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Farmers, FPOs, Buyers or Institutions log in to the platform.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7886700" y="2784348"/>
            <a:ext cx="466344" cy="466344"/>
            <a:chOff x="0" y="0"/>
            <a:chExt cx="621792" cy="6217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7886700" y="2784348"/>
            <a:ext cx="466344" cy="466344"/>
            <a:chOff x="0" y="0"/>
            <a:chExt cx="621792" cy="6217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name="AutoShape 82" id="82"/>
          <p:cNvSpPr/>
          <p:nvPr/>
        </p:nvSpPr>
        <p:spPr>
          <a:xfrm rot="174180">
            <a:off x="8343281" y="3012758"/>
            <a:ext cx="376152" cy="0"/>
          </a:xfrm>
          <a:prstGeom prst="line">
            <a:avLst/>
          </a:prstGeom>
          <a:ln cap="rnd" w="9525">
            <a:solidFill>
              <a:srgbClr val="2E7D3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3" id="83"/>
          <p:cNvGrpSpPr/>
          <p:nvPr/>
        </p:nvGrpSpPr>
        <p:grpSpPr>
          <a:xfrm rot="0">
            <a:off x="8768715" y="2514219"/>
            <a:ext cx="9003030" cy="1006602"/>
            <a:chOff x="0" y="0"/>
            <a:chExt cx="12004040" cy="134213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200404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200404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1854942" y="0"/>
                  </a:lnTo>
                  <a:cubicBezTo>
                    <a:pt x="11937238" y="0"/>
                    <a:pt x="12004040" y="66802"/>
                    <a:pt x="12004040" y="149098"/>
                  </a:cubicBezTo>
                  <a:lnTo>
                    <a:pt x="12004040" y="1193038"/>
                  </a:lnTo>
                  <a:cubicBezTo>
                    <a:pt x="12004040" y="1275334"/>
                    <a:pt x="11937238" y="1342136"/>
                    <a:pt x="1185494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E7D32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8942832" y="2702052"/>
            <a:ext cx="630936" cy="630936"/>
            <a:chOff x="0" y="0"/>
            <a:chExt cx="841248" cy="84124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2E7D32">
                <a:alpha val="1961"/>
              </a:srgbClr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066276" y="2825496"/>
            <a:ext cx="384048" cy="384048"/>
            <a:chOff x="0" y="0"/>
            <a:chExt cx="512064" cy="512064"/>
          </a:xfrm>
        </p:grpSpPr>
        <p:sp>
          <p:nvSpPr>
            <p:cNvPr name="Freeform 88" id="88" descr="/home/claude/icon_sprout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738360" y="2551176"/>
            <a:ext cx="7859268" cy="932688"/>
            <a:chOff x="0" y="0"/>
            <a:chExt cx="10479024" cy="124358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47902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0479024">
                  <a:moveTo>
                    <a:pt x="0" y="0"/>
                  </a:moveTo>
                  <a:lnTo>
                    <a:pt x="10479024" y="0"/>
                  </a:lnTo>
                  <a:lnTo>
                    <a:pt x="1047902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190" r="0" b="-11419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10479024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0"/>
                </a:lnSpc>
              </a:pPr>
              <a:r>
                <a:rPr lang="en-US" sz="1950" b="true">
                  <a:solidFill>
                    <a:srgbClr val="2E7D3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LIST &amp; DISCOVER</a:t>
              </a:r>
            </a:p>
            <a:p>
              <a:pPr algn="l">
                <a:lnSpc>
                  <a:spcPts val="2039"/>
                </a:lnSpc>
              </a:pPr>
              <a:r>
                <a:rPr lang="en-US" sz="165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Farmers list produce. Buyers discover verified lots with live mandi rates &amp; quality data.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7886700" y="3867912"/>
            <a:ext cx="466344" cy="466344"/>
            <a:chOff x="0" y="0"/>
            <a:chExt cx="621792" cy="6217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7886700" y="3867912"/>
            <a:ext cx="466344" cy="466344"/>
            <a:chOff x="0" y="0"/>
            <a:chExt cx="621792" cy="62179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name="AutoShape 97" id="97"/>
          <p:cNvSpPr/>
          <p:nvPr/>
        </p:nvSpPr>
        <p:spPr>
          <a:xfrm rot="174180">
            <a:off x="8343281" y="4096322"/>
            <a:ext cx="376152" cy="0"/>
          </a:xfrm>
          <a:prstGeom prst="line">
            <a:avLst/>
          </a:prstGeom>
          <a:ln cap="rnd" w="9525">
            <a:solidFill>
              <a:srgbClr val="1565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8" id="98"/>
          <p:cNvGrpSpPr/>
          <p:nvPr/>
        </p:nvGrpSpPr>
        <p:grpSpPr>
          <a:xfrm rot="0">
            <a:off x="8768715" y="3597783"/>
            <a:ext cx="9003030" cy="1006602"/>
            <a:chOff x="0" y="0"/>
            <a:chExt cx="12004040" cy="134213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200404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200404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1854942" y="0"/>
                  </a:lnTo>
                  <a:cubicBezTo>
                    <a:pt x="11937238" y="0"/>
                    <a:pt x="12004040" y="66802"/>
                    <a:pt x="12004040" y="149098"/>
                  </a:cubicBezTo>
                  <a:lnTo>
                    <a:pt x="12004040" y="1193038"/>
                  </a:lnTo>
                  <a:cubicBezTo>
                    <a:pt x="12004040" y="1275334"/>
                    <a:pt x="11937238" y="1342136"/>
                    <a:pt x="1185494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8942832" y="3785616"/>
            <a:ext cx="630936" cy="630936"/>
            <a:chOff x="0" y="0"/>
            <a:chExt cx="841248" cy="84124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1565C0">
                <a:alpha val="1961"/>
              </a:srgbClr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9066276" y="3909060"/>
            <a:ext cx="384048" cy="384048"/>
            <a:chOff x="0" y="0"/>
            <a:chExt cx="512064" cy="512064"/>
          </a:xfrm>
        </p:grpSpPr>
        <p:sp>
          <p:nvSpPr>
            <p:cNvPr name="Freeform 103" id="103" descr="/home/claude/icon_handshake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738360" y="3634740"/>
            <a:ext cx="7859268" cy="932688"/>
            <a:chOff x="0" y="0"/>
            <a:chExt cx="10479024" cy="124358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47902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0479024">
                  <a:moveTo>
                    <a:pt x="0" y="0"/>
                  </a:moveTo>
                  <a:lnTo>
                    <a:pt x="10479024" y="0"/>
                  </a:lnTo>
                  <a:lnTo>
                    <a:pt x="1047902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190" r="0" b="-11419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10479024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0"/>
                </a:lnSpc>
              </a:pPr>
              <a:r>
                <a:rPr lang="en-US" sz="1950" b="true">
                  <a:solidFill>
                    <a:srgbClr val="1565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MATCH &amp; NEGOTIATE</a:t>
              </a:r>
            </a:p>
            <a:p>
              <a:pPr algn="l">
                <a:lnSpc>
                  <a:spcPts val="2039"/>
                </a:lnSpc>
              </a:pPr>
              <a:r>
                <a:rPr lang="en-US" sz="165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AI matchmaker connects the right buyers and sellers. Negotiates prices digitally.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886700" y="4951476"/>
            <a:ext cx="466344" cy="466344"/>
            <a:chOff x="0" y="0"/>
            <a:chExt cx="621792" cy="62179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0838F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7886700" y="4951476"/>
            <a:ext cx="466344" cy="466344"/>
            <a:chOff x="0" y="0"/>
            <a:chExt cx="621792" cy="62179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sp>
        <p:nvSpPr>
          <p:cNvPr name="AutoShape 112" id="112"/>
          <p:cNvSpPr/>
          <p:nvPr/>
        </p:nvSpPr>
        <p:spPr>
          <a:xfrm rot="174180">
            <a:off x="8343281" y="5179886"/>
            <a:ext cx="376152" cy="0"/>
          </a:xfrm>
          <a:prstGeom prst="line">
            <a:avLst/>
          </a:prstGeom>
          <a:ln cap="rnd" w="9525">
            <a:solidFill>
              <a:srgbClr val="00838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3" id="113"/>
          <p:cNvGrpSpPr/>
          <p:nvPr/>
        </p:nvGrpSpPr>
        <p:grpSpPr>
          <a:xfrm rot="0">
            <a:off x="8768715" y="4681347"/>
            <a:ext cx="9003030" cy="1006602"/>
            <a:chOff x="0" y="0"/>
            <a:chExt cx="12004040" cy="134213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200404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200404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1854942" y="0"/>
                  </a:lnTo>
                  <a:cubicBezTo>
                    <a:pt x="11937238" y="0"/>
                    <a:pt x="12004040" y="66802"/>
                    <a:pt x="12004040" y="149098"/>
                  </a:cubicBezTo>
                  <a:lnTo>
                    <a:pt x="12004040" y="1193038"/>
                  </a:lnTo>
                  <a:cubicBezTo>
                    <a:pt x="12004040" y="1275334"/>
                    <a:pt x="11937238" y="1342136"/>
                    <a:pt x="1185494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838F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8942832" y="4869180"/>
            <a:ext cx="630936" cy="630936"/>
            <a:chOff x="0" y="0"/>
            <a:chExt cx="841248" cy="84124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0838F">
                <a:alpha val="1961"/>
              </a:srgbClr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9066276" y="4992624"/>
            <a:ext cx="384048" cy="384048"/>
            <a:chOff x="0" y="0"/>
            <a:chExt cx="512064" cy="512064"/>
          </a:xfrm>
        </p:grpSpPr>
        <p:sp>
          <p:nvSpPr>
            <p:cNvPr name="Freeform 118" id="118" descr="/home/claude/icon_shieldcheck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738360" y="4718304"/>
            <a:ext cx="7859268" cy="932688"/>
            <a:chOff x="0" y="0"/>
            <a:chExt cx="10479024" cy="124358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047902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0479024">
                  <a:moveTo>
                    <a:pt x="0" y="0"/>
                  </a:moveTo>
                  <a:lnTo>
                    <a:pt x="10479024" y="0"/>
                  </a:lnTo>
                  <a:lnTo>
                    <a:pt x="1047902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190" r="0" b="-11419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28575"/>
              <a:ext cx="10479024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0"/>
                </a:lnSpc>
              </a:pPr>
              <a:r>
                <a:rPr lang="en-US" sz="1950" b="true">
                  <a:solidFill>
                    <a:srgbClr val="00838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TRANSACTION &amp; ESCROW</a:t>
              </a:r>
            </a:p>
            <a:p>
              <a:pPr algn="l">
                <a:lnSpc>
                  <a:spcPts val="2039"/>
                </a:lnSpc>
              </a:pPr>
              <a:r>
                <a:rPr lang="en-US" sz="165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Secure 7-step escrow ensures safe &amp; transparent payments.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7886700" y="6035040"/>
            <a:ext cx="466344" cy="466344"/>
            <a:chOff x="0" y="0"/>
            <a:chExt cx="621792" cy="62179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7886700" y="6035040"/>
            <a:ext cx="466344" cy="466344"/>
            <a:chOff x="0" y="0"/>
            <a:chExt cx="621792" cy="62179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sp>
        <p:nvSpPr>
          <p:cNvPr name="AutoShape 127" id="127"/>
          <p:cNvSpPr/>
          <p:nvPr/>
        </p:nvSpPr>
        <p:spPr>
          <a:xfrm rot="174180">
            <a:off x="8343281" y="6263450"/>
            <a:ext cx="376152" cy="0"/>
          </a:xfrm>
          <a:prstGeom prst="line">
            <a:avLst/>
          </a:prstGeom>
          <a:ln cap="rnd" w="9525">
            <a:solidFill>
              <a:srgbClr val="2E7D3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8" id="128"/>
          <p:cNvGrpSpPr/>
          <p:nvPr/>
        </p:nvGrpSpPr>
        <p:grpSpPr>
          <a:xfrm rot="0">
            <a:off x="8768715" y="5764911"/>
            <a:ext cx="9003030" cy="1006602"/>
            <a:chOff x="0" y="0"/>
            <a:chExt cx="12004040" cy="1342136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200404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200404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1854942" y="0"/>
                  </a:lnTo>
                  <a:cubicBezTo>
                    <a:pt x="11937238" y="0"/>
                    <a:pt x="12004040" y="66802"/>
                    <a:pt x="12004040" y="149098"/>
                  </a:cubicBezTo>
                  <a:lnTo>
                    <a:pt x="12004040" y="1193038"/>
                  </a:lnTo>
                  <a:cubicBezTo>
                    <a:pt x="12004040" y="1275334"/>
                    <a:pt x="11937238" y="1342136"/>
                    <a:pt x="1185494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E7D32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8942832" y="5952744"/>
            <a:ext cx="630936" cy="630936"/>
            <a:chOff x="0" y="0"/>
            <a:chExt cx="841248" cy="84124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2E7D32">
                <a:alpha val="1961"/>
              </a:srgbClr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066276" y="6076188"/>
            <a:ext cx="384048" cy="384048"/>
            <a:chOff x="0" y="0"/>
            <a:chExt cx="512064" cy="512064"/>
          </a:xfrm>
        </p:grpSpPr>
        <p:sp>
          <p:nvSpPr>
            <p:cNvPr name="Freeform 133" id="133" descr="/home/claude/icon_truck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9738360" y="5801868"/>
            <a:ext cx="7859268" cy="932688"/>
            <a:chOff x="0" y="0"/>
            <a:chExt cx="10479024" cy="124358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047902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0479024">
                  <a:moveTo>
                    <a:pt x="0" y="0"/>
                  </a:moveTo>
                  <a:lnTo>
                    <a:pt x="10479024" y="0"/>
                  </a:lnTo>
                  <a:lnTo>
                    <a:pt x="1047902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190" r="0" b="-11419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28575"/>
              <a:ext cx="10479024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0"/>
                </a:lnSpc>
              </a:pPr>
              <a:r>
                <a:rPr lang="en-US" sz="1950" b="true">
                  <a:solidFill>
                    <a:srgbClr val="2E7D3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LOGISTICS &amp; DELIVERY</a:t>
              </a:r>
            </a:p>
            <a:p>
              <a:pPr algn="l">
                <a:lnSpc>
                  <a:spcPts val="2039"/>
                </a:lnSpc>
              </a:pPr>
              <a:r>
                <a:rPr lang="en-US" sz="165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Agri logistics with GPS tracking ensures timely pickup and delivery.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7886700" y="7118604"/>
            <a:ext cx="466344" cy="466344"/>
            <a:chOff x="0" y="0"/>
            <a:chExt cx="621792" cy="62179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558B2F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7886700" y="7118604"/>
            <a:ext cx="466344" cy="466344"/>
            <a:chOff x="0" y="0"/>
            <a:chExt cx="621792" cy="62179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sp>
        <p:nvSpPr>
          <p:cNvPr name="AutoShape 142" id="142"/>
          <p:cNvSpPr/>
          <p:nvPr/>
        </p:nvSpPr>
        <p:spPr>
          <a:xfrm rot="174180">
            <a:off x="8343281" y="7347014"/>
            <a:ext cx="376152" cy="0"/>
          </a:xfrm>
          <a:prstGeom prst="line">
            <a:avLst/>
          </a:prstGeom>
          <a:ln cap="rnd" w="9525">
            <a:solidFill>
              <a:srgbClr val="558B2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3" id="143"/>
          <p:cNvGrpSpPr/>
          <p:nvPr/>
        </p:nvGrpSpPr>
        <p:grpSpPr>
          <a:xfrm rot="0">
            <a:off x="8768715" y="6848475"/>
            <a:ext cx="9003030" cy="1006602"/>
            <a:chOff x="0" y="0"/>
            <a:chExt cx="12004040" cy="1342136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200404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200404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1854942" y="0"/>
                  </a:lnTo>
                  <a:cubicBezTo>
                    <a:pt x="11937238" y="0"/>
                    <a:pt x="12004040" y="66802"/>
                    <a:pt x="12004040" y="149098"/>
                  </a:cubicBezTo>
                  <a:lnTo>
                    <a:pt x="12004040" y="1193038"/>
                  </a:lnTo>
                  <a:cubicBezTo>
                    <a:pt x="12004040" y="1275334"/>
                    <a:pt x="11937238" y="1342136"/>
                    <a:pt x="1185494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558B2F"/>
              </a:solidFill>
              <a:prstDash val="solid"/>
              <a:miter/>
            </a:ln>
          </p:spPr>
        </p:sp>
      </p:grpSp>
      <p:grpSp>
        <p:nvGrpSpPr>
          <p:cNvPr name="Group 145" id="145"/>
          <p:cNvGrpSpPr/>
          <p:nvPr/>
        </p:nvGrpSpPr>
        <p:grpSpPr>
          <a:xfrm rot="0">
            <a:off x="8942832" y="7036308"/>
            <a:ext cx="630936" cy="630936"/>
            <a:chOff x="0" y="0"/>
            <a:chExt cx="841248" cy="841248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58B2F">
                <a:alpha val="1961"/>
              </a:srgbClr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066276" y="7159752"/>
            <a:ext cx="384048" cy="384048"/>
            <a:chOff x="0" y="0"/>
            <a:chExt cx="512064" cy="512064"/>
          </a:xfrm>
        </p:grpSpPr>
        <p:sp>
          <p:nvSpPr>
            <p:cNvPr name="Freeform 148" id="148" descr="/home/claude/icon_warehouse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738360" y="6885432"/>
            <a:ext cx="7859268" cy="932688"/>
            <a:chOff x="0" y="0"/>
            <a:chExt cx="10479024" cy="1243584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047902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0479024">
                  <a:moveTo>
                    <a:pt x="0" y="0"/>
                  </a:moveTo>
                  <a:lnTo>
                    <a:pt x="10479024" y="0"/>
                  </a:lnTo>
                  <a:lnTo>
                    <a:pt x="1047902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190" r="0" b="-11419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28575"/>
              <a:ext cx="10479024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0"/>
                </a:lnSpc>
              </a:pPr>
              <a:r>
                <a:rPr lang="en-US" sz="1950" b="true">
                  <a:solidFill>
                    <a:srgbClr val="558B2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WAREHOUSING &amp; STORAGE</a:t>
              </a:r>
            </a:p>
            <a:p>
              <a:pPr algn="l">
                <a:lnSpc>
                  <a:spcPts val="2039"/>
                </a:lnSpc>
              </a:pPr>
              <a:r>
                <a:rPr lang="en-US" sz="165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Scientific warehousing with ROI engine maximizes value &amp; reduces losses.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7886700" y="8202168"/>
            <a:ext cx="466344" cy="466344"/>
            <a:chOff x="0" y="0"/>
            <a:chExt cx="621792" cy="62179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7886700" y="8202168"/>
            <a:ext cx="466344" cy="466344"/>
            <a:chOff x="0" y="0"/>
            <a:chExt cx="621792" cy="621792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</a:t>
              </a:r>
            </a:p>
          </p:txBody>
        </p:sp>
      </p:grpSp>
      <p:sp>
        <p:nvSpPr>
          <p:cNvPr name="AutoShape 157" id="157"/>
          <p:cNvSpPr/>
          <p:nvPr/>
        </p:nvSpPr>
        <p:spPr>
          <a:xfrm rot="174180">
            <a:off x="8343281" y="8430578"/>
            <a:ext cx="376152" cy="0"/>
          </a:xfrm>
          <a:prstGeom prst="line">
            <a:avLst/>
          </a:prstGeom>
          <a:ln cap="rnd" w="9525">
            <a:solidFill>
              <a:srgbClr val="B8860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8" id="158"/>
          <p:cNvGrpSpPr/>
          <p:nvPr/>
        </p:nvGrpSpPr>
        <p:grpSpPr>
          <a:xfrm rot="0">
            <a:off x="8768715" y="7932039"/>
            <a:ext cx="9003030" cy="1006602"/>
            <a:chOff x="0" y="0"/>
            <a:chExt cx="12004040" cy="134213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1200404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200404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1854942" y="0"/>
                  </a:lnTo>
                  <a:cubicBezTo>
                    <a:pt x="11937238" y="0"/>
                    <a:pt x="12004040" y="66802"/>
                    <a:pt x="12004040" y="149098"/>
                  </a:cubicBezTo>
                  <a:lnTo>
                    <a:pt x="12004040" y="1193038"/>
                  </a:lnTo>
                  <a:cubicBezTo>
                    <a:pt x="12004040" y="1275334"/>
                    <a:pt x="11937238" y="1342136"/>
                    <a:pt x="1185494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8860B"/>
              </a:solidFill>
              <a:prstDash val="solid"/>
              <a:miter/>
            </a:ln>
          </p:spPr>
        </p:sp>
      </p:grpSp>
      <p:grpSp>
        <p:nvGrpSpPr>
          <p:cNvPr name="Group 160" id="160"/>
          <p:cNvGrpSpPr/>
          <p:nvPr/>
        </p:nvGrpSpPr>
        <p:grpSpPr>
          <a:xfrm rot="0">
            <a:off x="8942832" y="8119872"/>
            <a:ext cx="630936" cy="630936"/>
            <a:chOff x="0" y="0"/>
            <a:chExt cx="841248" cy="841248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B8860B">
                <a:alpha val="1961"/>
              </a:srgbClr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9066276" y="8243316"/>
            <a:ext cx="384048" cy="384048"/>
            <a:chOff x="0" y="0"/>
            <a:chExt cx="512064" cy="512064"/>
          </a:xfrm>
        </p:grpSpPr>
        <p:sp>
          <p:nvSpPr>
            <p:cNvPr name="Freeform 163" id="163" descr="/home/claude/icon_barchart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9738360" y="7968996"/>
            <a:ext cx="7859268" cy="932688"/>
            <a:chOff x="0" y="0"/>
            <a:chExt cx="10479024" cy="1243584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047902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0479024">
                  <a:moveTo>
                    <a:pt x="0" y="0"/>
                  </a:moveTo>
                  <a:lnTo>
                    <a:pt x="10479024" y="0"/>
                  </a:lnTo>
                  <a:lnTo>
                    <a:pt x="1047902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190" r="0" b="-11419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28575"/>
              <a:ext cx="10479024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0"/>
                </a:lnSpc>
              </a:pPr>
              <a:r>
                <a:rPr lang="en-US" sz="1950" b="true">
                  <a:solidFill>
                    <a:srgbClr val="B8860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ANALYTICS &amp; INSIGHTS</a:t>
              </a:r>
            </a:p>
            <a:p>
              <a:pPr algn="l">
                <a:lnSpc>
                  <a:spcPts val="2039"/>
                </a:lnSpc>
              </a:pPr>
              <a:r>
                <a:rPr lang="en-US" sz="165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AI-driven insights, reports &amp; feedback enable smarter decisions for all stakeholders.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7328535" y="9248775"/>
            <a:ext cx="10443210" cy="773430"/>
            <a:chOff x="0" y="0"/>
            <a:chExt cx="13924280" cy="103124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392428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3924280">
                  <a:moveTo>
                    <a:pt x="0" y="112522"/>
                  </a:moveTo>
                  <a:cubicBezTo>
                    <a:pt x="0" y="50419"/>
                    <a:pt x="50419" y="0"/>
                    <a:pt x="112522" y="0"/>
                  </a:cubicBezTo>
                  <a:lnTo>
                    <a:pt x="13811758" y="0"/>
                  </a:lnTo>
                  <a:cubicBezTo>
                    <a:pt x="13873862" y="0"/>
                    <a:pt x="13924280" y="50419"/>
                    <a:pt x="13924280" y="112522"/>
                  </a:cubicBezTo>
                  <a:lnTo>
                    <a:pt x="13924280" y="918718"/>
                  </a:lnTo>
                  <a:cubicBezTo>
                    <a:pt x="13924280" y="980821"/>
                    <a:pt x="13873862" y="1031240"/>
                    <a:pt x="13811758" y="1031240"/>
                  </a:cubicBezTo>
                  <a:lnTo>
                    <a:pt x="112522" y="1031240"/>
                  </a:lnTo>
                  <a:cubicBezTo>
                    <a:pt x="50419" y="1031240"/>
                    <a:pt x="0" y="980821"/>
                    <a:pt x="0" y="918718"/>
                  </a:cubicBezTo>
                  <a:close/>
                </a:path>
              </a:pathLst>
            </a:custGeom>
            <a:solidFill>
              <a:srgbClr val="F7F7FA"/>
            </a:solidFill>
            <a:ln w="19050" cap="sq">
              <a:solidFill>
                <a:srgbClr val="D9D9E8"/>
              </a:solidFill>
              <a:prstDash val="solid"/>
              <a:miter/>
            </a:ln>
          </p:spPr>
        </p:sp>
      </p:grpSp>
      <p:grpSp>
        <p:nvGrpSpPr>
          <p:cNvPr name="Group 169" id="169"/>
          <p:cNvGrpSpPr/>
          <p:nvPr/>
        </p:nvGrpSpPr>
        <p:grpSpPr>
          <a:xfrm rot="0">
            <a:off x="7516368" y="9395460"/>
            <a:ext cx="493776" cy="493776"/>
            <a:chOff x="0" y="0"/>
            <a:chExt cx="658368" cy="658368"/>
          </a:xfrm>
        </p:grpSpPr>
        <p:sp>
          <p:nvSpPr>
            <p:cNvPr name="Freeform 170" id="170" descr="/home/claude/icon_trendingup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8197503" y="8717640"/>
            <a:ext cx="5079585" cy="1752148"/>
            <a:chOff x="0" y="0"/>
            <a:chExt cx="2915992" cy="100584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915992" cy="1005840"/>
            </a:xfrm>
            <a:custGeom>
              <a:avLst/>
              <a:gdLst/>
              <a:ahLst/>
              <a:cxnLst/>
              <a:rect r="r" b="b" t="t" l="l"/>
              <a:pathLst>
                <a:path h="1005840" w="2915992">
                  <a:moveTo>
                    <a:pt x="0" y="0"/>
                  </a:moveTo>
                  <a:lnTo>
                    <a:pt x="2915992" y="0"/>
                  </a:lnTo>
                  <a:lnTo>
                    <a:pt x="291599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91" t="0" r="14977" b="0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-19050"/>
              <a:ext cx="2915992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709"/>
                </a:lnSpc>
                <a:spcBef>
                  <a:spcPct val="0"/>
                </a:spcBef>
              </a:pPr>
              <a:r>
                <a:rPr lang="en-US" b="true" sz="1425" strike="noStrike" u="non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+11.4% Extra</a:t>
              </a:r>
            </a:p>
            <a:p>
              <a:pPr algn="l" marL="0" indent="0" lvl="0">
                <a:lnSpc>
                  <a:spcPts val="1709"/>
                </a:lnSpc>
                <a:spcBef>
                  <a:spcPct val="0"/>
                </a:spcBef>
              </a:pPr>
              <a:r>
                <a:rPr lang="en-US" b="true" sz="1425" strike="noStrike" u="non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Net Realization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0122408" y="9395460"/>
            <a:ext cx="493776" cy="493776"/>
            <a:chOff x="0" y="0"/>
            <a:chExt cx="658368" cy="658368"/>
          </a:xfrm>
        </p:grpSpPr>
        <p:sp>
          <p:nvSpPr>
            <p:cNvPr name="Freeform 175" id="175" descr="/home/claude/icon_shield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0671048" y="9258300"/>
            <a:ext cx="1783080" cy="754380"/>
            <a:chOff x="0" y="0"/>
            <a:chExt cx="2377440" cy="10058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23774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82" t="0" r="-4282" b="0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19050"/>
              <a:ext cx="23774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Transparent &amp;</a:t>
              </a:r>
            </a:p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Trustworthy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2728448" y="9395460"/>
            <a:ext cx="493776" cy="493776"/>
            <a:chOff x="0" y="0"/>
            <a:chExt cx="658368" cy="658368"/>
          </a:xfrm>
        </p:grpSpPr>
        <p:sp>
          <p:nvSpPr>
            <p:cNvPr name="Freeform 180" id="180" descr="/home/claude/icon_truck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13277088" y="9258300"/>
            <a:ext cx="1783080" cy="754380"/>
            <a:chOff x="0" y="0"/>
            <a:chExt cx="2377440" cy="1005840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23774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82" t="0" r="-4282" b="0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-19050"/>
              <a:ext cx="23774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Efficient</a:t>
              </a:r>
            </a:p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Supply Chain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15334488" y="9395460"/>
            <a:ext cx="493776" cy="493776"/>
            <a:chOff x="0" y="0"/>
            <a:chExt cx="658368" cy="658368"/>
          </a:xfrm>
        </p:grpSpPr>
        <p:sp>
          <p:nvSpPr>
            <p:cNvPr name="Freeform 185" id="185" descr="/home/claude/icon_users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186" id="186"/>
          <p:cNvGrpSpPr/>
          <p:nvPr/>
        </p:nvGrpSpPr>
        <p:grpSpPr>
          <a:xfrm rot="0">
            <a:off x="15883128" y="9258300"/>
            <a:ext cx="1783080" cy="754380"/>
            <a:chOff x="0" y="0"/>
            <a:chExt cx="2377440" cy="1005840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23774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82" t="0" r="-4282" b="0"/>
              </a:stretch>
            </a:blipFill>
          </p:spPr>
        </p:sp>
        <p:sp>
          <p:nvSpPr>
            <p:cNvPr name="TextBox 188" id="188"/>
            <p:cNvSpPr txBox="true"/>
            <p:nvPr/>
          </p:nvSpPr>
          <p:spPr>
            <a:xfrm>
              <a:off x="0" y="-19050"/>
              <a:ext cx="23774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Happier</a:t>
              </a:r>
            </a:p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Farmers &amp; Buyers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83343" y="168209"/>
            <a:ext cx="2761560" cy="1303956"/>
            <a:chOff x="0" y="0"/>
            <a:chExt cx="4499699" cy="21246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-251696"/>
            <a:ext cx="2950430" cy="1427876"/>
          </a:xfrm>
          <a:custGeom>
            <a:avLst/>
            <a:gdLst/>
            <a:ahLst/>
            <a:cxnLst/>
            <a:rect r="r" b="b" t="t" l="l"/>
            <a:pathLst>
              <a:path h="1427876" w="2950430">
                <a:moveTo>
                  <a:pt x="0" y="0"/>
                </a:moveTo>
                <a:lnTo>
                  <a:pt x="2950430" y="0"/>
                </a:lnTo>
                <a:lnTo>
                  <a:pt x="2950430" y="1427876"/>
                </a:lnTo>
                <a:lnTo>
                  <a:pt x="0" y="14278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734" y="1066148"/>
            <a:ext cx="9314657" cy="9277799"/>
          </a:xfrm>
          <a:custGeom>
            <a:avLst/>
            <a:gdLst/>
            <a:ahLst/>
            <a:cxnLst/>
            <a:rect r="r" b="b" t="t" l="l"/>
            <a:pathLst>
              <a:path h="9277799" w="9314657">
                <a:moveTo>
                  <a:pt x="0" y="0"/>
                </a:moveTo>
                <a:lnTo>
                  <a:pt x="9314656" y="0"/>
                </a:lnTo>
                <a:lnTo>
                  <a:pt x="9314656" y="9277798"/>
                </a:lnTo>
                <a:lnTo>
                  <a:pt x="0" y="92777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02023" y="1258858"/>
            <a:ext cx="726677" cy="726677"/>
            <a:chOff x="0" y="0"/>
            <a:chExt cx="550215" cy="5502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0164" cy="550164"/>
            </a:xfrm>
            <a:custGeom>
              <a:avLst/>
              <a:gdLst/>
              <a:ahLst/>
              <a:cxnLst/>
              <a:rect r="r" b="b" t="t" l="l"/>
              <a:pathLst>
                <a:path h="550164" w="550164">
                  <a:moveTo>
                    <a:pt x="0" y="0"/>
                  </a:moveTo>
                  <a:lnTo>
                    <a:pt x="550164" y="0"/>
                  </a:lnTo>
                  <a:lnTo>
                    <a:pt x="550164" y="550164"/>
                  </a:lnTo>
                  <a:lnTo>
                    <a:pt x="0" y="550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209354" y="3656943"/>
            <a:ext cx="1684570" cy="1853929"/>
            <a:chOff x="0" y="0"/>
            <a:chExt cx="1297089" cy="14274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7051" cy="1427480"/>
            </a:xfrm>
            <a:custGeom>
              <a:avLst/>
              <a:gdLst/>
              <a:ahLst/>
              <a:cxnLst/>
              <a:rect r="r" b="b" t="t" l="l"/>
              <a:pathLst>
                <a:path h="1427480" w="1297051">
                  <a:moveTo>
                    <a:pt x="0" y="0"/>
                  </a:moveTo>
                  <a:lnTo>
                    <a:pt x="1297051" y="0"/>
                  </a:lnTo>
                  <a:lnTo>
                    <a:pt x="1297051" y="1427480"/>
                  </a:lnTo>
                  <a:lnTo>
                    <a:pt x="0" y="1427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0053" t="0" r="-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85594" y="7580503"/>
            <a:ext cx="506519" cy="506519"/>
            <a:chOff x="0" y="0"/>
            <a:chExt cx="524370" cy="5243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4383" cy="524383"/>
            </a:xfrm>
            <a:custGeom>
              <a:avLst/>
              <a:gdLst/>
              <a:ahLst/>
              <a:cxnLst/>
              <a:rect r="r" b="b" t="t" l="l"/>
              <a:pathLst>
                <a:path h="524383" w="524383">
                  <a:moveTo>
                    <a:pt x="0" y="0"/>
                  </a:moveTo>
                  <a:lnTo>
                    <a:pt x="524383" y="0"/>
                  </a:lnTo>
                  <a:lnTo>
                    <a:pt x="524383" y="524383"/>
                  </a:lnTo>
                  <a:lnTo>
                    <a:pt x="0" y="524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2" b="2"/>
              </a:stretch>
            </a:blipFill>
          </p:spPr>
        </p:sp>
      </p:grpSp>
      <p:graphicFrame>
        <p:nvGraphicFramePr>
          <p:cNvPr name="Object 12" id="12"/>
          <p:cNvGraphicFramePr/>
          <p:nvPr/>
        </p:nvGraphicFramePr>
        <p:xfrm>
          <a:off x="9416390" y="1598942"/>
          <a:ext cx="3771900" cy="3143250"/>
        </p:xfrm>
        <a:graphic>
          <a:graphicData uri="http://schemas.openxmlformats.org/presentationml/2006/ole">
            <p:oleObj imgW="4521200" imgH="38862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13" id="13"/>
          <p:cNvSpPr/>
          <p:nvPr/>
        </p:nvSpPr>
        <p:spPr>
          <a:xfrm flipH="false" flipV="false" rot="0">
            <a:off x="9360973" y="6893337"/>
            <a:ext cx="8987457" cy="3353711"/>
          </a:xfrm>
          <a:custGeom>
            <a:avLst/>
            <a:gdLst/>
            <a:ahLst/>
            <a:cxnLst/>
            <a:rect r="r" b="b" t="t" l="l"/>
            <a:pathLst>
              <a:path h="3353711" w="8987457">
                <a:moveTo>
                  <a:pt x="0" y="0"/>
                </a:moveTo>
                <a:lnTo>
                  <a:pt x="8987457" y="0"/>
                </a:lnTo>
                <a:lnTo>
                  <a:pt x="8987457" y="3353711"/>
                </a:lnTo>
                <a:lnTo>
                  <a:pt x="0" y="33537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3399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663609" y="130109"/>
            <a:ext cx="10765163" cy="916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20"/>
              </a:lnSpc>
              <a:spcBef>
                <a:spcPct val="0"/>
              </a:spcBef>
            </a:pPr>
            <a:r>
              <a:rPr lang="en-US" b="true" sz="5766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1294" y="-99143"/>
            <a:ext cx="1847843" cy="965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1"/>
              </a:lnSpc>
            </a:pPr>
            <a:r>
              <a:rPr lang="en-US" sz="2607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Debuggers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7061" y="1226096"/>
            <a:ext cx="2997994" cy="77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211"/>
              </a:lnSpc>
              <a:spcBef>
                <a:spcPct val="0"/>
              </a:spcBef>
            </a:pPr>
            <a:r>
              <a:rPr lang="en-US" sz="4471" strike="noStrike" u="none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Feasibility :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6248" y="4182304"/>
            <a:ext cx="3203697" cy="785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211"/>
              </a:lnSpc>
              <a:spcBef>
                <a:spcPct val="0"/>
              </a:spcBef>
            </a:pPr>
            <a:r>
              <a:rPr lang="en-US" sz="4471" strike="noStrike" u="none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Viability: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0514" y="7408224"/>
            <a:ext cx="5193436" cy="74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947"/>
              </a:lnSpc>
              <a:spcBef>
                <a:spcPct val="0"/>
              </a:spcBef>
            </a:pPr>
            <a:r>
              <a:rPr lang="en-US" sz="4282" strike="noStrike" u="none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Business potential: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17150" y="8072082"/>
            <a:ext cx="9426815" cy="931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235" indent="-277617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2571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Subscription model → premium insights (price trends, demand forecasts)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-82090" y="8907990"/>
            <a:ext cx="8490109" cy="48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234" indent="-277617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2571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Transaction fees → each trade &amp; payment gateway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17150" y="9776324"/>
            <a:ext cx="9378123" cy="47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487" indent="-272744" lvl="1">
              <a:lnSpc>
                <a:spcPts val="3537"/>
              </a:lnSpc>
              <a:spcBef>
                <a:spcPct val="0"/>
              </a:spcBef>
              <a:buFont typeface="Arial"/>
              <a:buChar char="•"/>
            </a:pPr>
            <a:r>
              <a:rPr lang="en-US" sz="2526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agri-input firms, banks, logistics, digital payments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-82090" y="9318918"/>
            <a:ext cx="8744545" cy="48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234" indent="-277617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2571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Data services → government &amp; research institutions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9120" y="1976010"/>
            <a:ext cx="6672075" cy="479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234" indent="-277617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2571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Built with modern web/mobile + AI/ML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4327" y="2408119"/>
            <a:ext cx="6385810" cy="463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1411" indent="-265706" lvl="1">
              <a:lnSpc>
                <a:spcPts val="3445"/>
              </a:lnSpc>
              <a:spcBef>
                <a:spcPct val="0"/>
              </a:spcBef>
              <a:buFont typeface="Arial"/>
              <a:buChar char="•"/>
            </a:pPr>
            <a:r>
              <a:rPr lang="en-US" sz="2461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Secure databases ensure reliability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4327" y="2908706"/>
            <a:ext cx="10314079" cy="4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5928" indent="-262964" lvl="1">
              <a:lnSpc>
                <a:spcPts val="3410"/>
              </a:lnSpc>
              <a:spcBef>
                <a:spcPct val="0"/>
              </a:spcBef>
              <a:buFont typeface="Arial"/>
              <a:buChar char="•"/>
            </a:pPr>
            <a:r>
              <a:rPr lang="en-US" sz="2435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Prices, demand, logistics, payments &amp; disputes.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5594" y="3302358"/>
            <a:ext cx="6697742" cy="469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385" indent="-277192" lvl="1">
              <a:lnSpc>
                <a:spcPts val="3594"/>
              </a:lnSpc>
              <a:spcBef>
                <a:spcPct val="0"/>
              </a:spcBef>
              <a:buFont typeface="Arial"/>
              <a:buChar char="•"/>
            </a:pPr>
            <a:r>
              <a:rPr lang="en-US" sz="2567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Strong demand from farmers &amp; buyers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9120" y="3771860"/>
            <a:ext cx="6863585" cy="46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629" indent="-275814" lvl="1">
              <a:lnSpc>
                <a:spcPts val="3577"/>
              </a:lnSpc>
              <a:spcBef>
                <a:spcPct val="0"/>
              </a:spcBef>
              <a:buFont typeface="Arial"/>
              <a:buChar char="•"/>
            </a:pPr>
            <a:r>
              <a:rPr lang="en-US" sz="2555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Cost‑effective, scalable via cloud + APIs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-82090" y="4859953"/>
            <a:ext cx="9610639" cy="471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577" indent="-266789" lvl="1">
              <a:lnSpc>
                <a:spcPts val="3459"/>
              </a:lnSpc>
              <a:spcBef>
                <a:spcPct val="0"/>
              </a:spcBef>
              <a:buFont typeface="Arial"/>
              <a:buChar char="•"/>
            </a:pPr>
            <a:r>
              <a:rPr lang="en-US" sz="2471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Modular system → fees, analytics, logistics, subscriptions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-89411" y="5434672"/>
            <a:ext cx="9135601" cy="94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234" indent="-277617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2571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Large user base → farmers, traders, processors, institutions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-157632" y="6911571"/>
            <a:ext cx="9203822" cy="48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234" indent="-277617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2571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Scalable → district → state → national → global markets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-89411" y="6386343"/>
            <a:ext cx="7935452" cy="48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234" indent="-277617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2571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higher farmer income, trust in digital trade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549288" y="2745031"/>
            <a:ext cx="4536550" cy="8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059" indent="-241029" lvl="1">
              <a:lnSpc>
                <a:spcPts val="3125"/>
              </a:lnSpc>
              <a:spcBef>
                <a:spcPct val="0"/>
              </a:spcBef>
              <a:buFont typeface="Arial"/>
              <a:buChar char="•"/>
            </a:pPr>
            <a:r>
              <a:rPr lang="en-US" sz="2232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Real‑time price discovery + market dashboard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44626" y="2918231"/>
            <a:ext cx="3663172" cy="42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059" indent="-241029" lvl="1">
              <a:lnSpc>
                <a:spcPts val="3125"/>
              </a:lnSpc>
              <a:spcBef>
                <a:spcPct val="0"/>
              </a:spcBef>
              <a:buFont typeface="Arial"/>
              <a:buChar char="•"/>
            </a:pPr>
            <a:r>
              <a:rPr lang="en-US" sz="2232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Price Transparency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96401" y="3720952"/>
            <a:ext cx="3449531" cy="821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059" indent="-241029" lvl="1">
              <a:lnSpc>
                <a:spcPts val="3125"/>
              </a:lnSpc>
              <a:spcBef>
                <a:spcPct val="0"/>
              </a:spcBef>
              <a:buFont typeface="Arial"/>
              <a:buChar char="•"/>
            </a:pPr>
            <a:r>
              <a:rPr lang="en-US" sz="2232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Information Gap &amp; Trust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603652" y="3613909"/>
            <a:ext cx="4298730" cy="81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058" indent="-241029" lvl="1">
              <a:lnSpc>
                <a:spcPts val="3125"/>
              </a:lnSpc>
              <a:spcBef>
                <a:spcPct val="0"/>
              </a:spcBef>
              <a:buFont typeface="Arial"/>
              <a:buChar char="•"/>
            </a:pPr>
            <a:r>
              <a:rPr lang="en-US" sz="2232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Ratings, grading &amp; digital certificates.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12373" y="4786550"/>
            <a:ext cx="4276137" cy="81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187" indent="-241093" lvl="1">
              <a:lnSpc>
                <a:spcPts val="3126"/>
              </a:lnSpc>
              <a:spcBef>
                <a:spcPct val="0"/>
              </a:spcBef>
              <a:buFont typeface="Arial"/>
              <a:buChar char="•"/>
            </a:pPr>
            <a:r>
              <a:rPr lang="en-US" sz="2233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High Costs &amp; Logistics Issues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603652" y="4580987"/>
            <a:ext cx="4939500" cy="1334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9027" indent="-204514" lvl="1">
              <a:lnSpc>
                <a:spcPts val="2652"/>
              </a:lnSpc>
              <a:buFont typeface="Arial"/>
              <a:buChar char="•"/>
            </a:pPr>
            <a:r>
              <a:rPr lang="en-US" sz="1894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Transport matching, route optimization &amp; secure escrow payments.</a:t>
            </a:r>
          </a:p>
          <a:p>
            <a:pPr algn="l">
              <a:lnSpc>
                <a:spcPts val="2652"/>
              </a:lnSpc>
              <a:spcBef>
                <a:spcPct val="0"/>
              </a:spcBef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9796401" y="5671545"/>
            <a:ext cx="3859026" cy="81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187" indent="-241093" lvl="1">
              <a:lnSpc>
                <a:spcPts val="3126"/>
              </a:lnSpc>
              <a:spcBef>
                <a:spcPct val="0"/>
              </a:spcBef>
              <a:buFont typeface="Arial"/>
              <a:buChar char="•"/>
            </a:pPr>
            <a:r>
              <a:rPr lang="en-US" sz="2233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Farmer Adoption Barriers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675794" y="5839435"/>
            <a:ext cx="4226588" cy="736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3826" indent="-216913" lvl="1">
              <a:lnSpc>
                <a:spcPts val="2813"/>
              </a:lnSpc>
              <a:spcBef>
                <a:spcPct val="0"/>
              </a:spcBef>
              <a:buFont typeface="Arial"/>
              <a:buChar char="•"/>
            </a:pPr>
            <a:r>
              <a:rPr lang="en-US" sz="2009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Mobile‑friendly design, local language &amp; easy onboarding.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459944" y="1841623"/>
            <a:ext cx="2416329" cy="541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3057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</a:t>
            </a:r>
            <a:r>
              <a:rPr lang="en-US" b="true" sz="305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ALLENGE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212184" y="1841623"/>
            <a:ext cx="8628513" cy="54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0"/>
              </a:lnSpc>
              <a:spcBef>
                <a:spcPct val="0"/>
              </a:spcBef>
            </a:pPr>
            <a:r>
              <a:rPr lang="en-US" b="true" sz="3057" strike="noStrike" u="non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SOLUTION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13251" y="2279204"/>
            <a:ext cx="5435727" cy="5728592"/>
            <a:chOff x="0" y="0"/>
            <a:chExt cx="7247636" cy="763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47636" cy="7638161"/>
            </a:xfrm>
            <a:custGeom>
              <a:avLst/>
              <a:gdLst/>
              <a:ahLst/>
              <a:cxnLst/>
              <a:rect r="r" b="b" t="t" l="l"/>
              <a:pathLst>
                <a:path h="7638161" w="7247636">
                  <a:moveTo>
                    <a:pt x="0" y="0"/>
                  </a:moveTo>
                  <a:lnTo>
                    <a:pt x="7247636" y="0"/>
                  </a:lnTo>
                  <a:lnTo>
                    <a:pt x="7247636" y="7638161"/>
                  </a:lnTo>
                  <a:lnTo>
                    <a:pt x="0" y="763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3597" t="-48953" r="-62866" b="-2913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83343" y="168209"/>
            <a:ext cx="2761560" cy="1303956"/>
            <a:chOff x="0" y="0"/>
            <a:chExt cx="4499699" cy="21246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-90415"/>
            <a:ext cx="2950430" cy="1427876"/>
          </a:xfrm>
          <a:custGeom>
            <a:avLst/>
            <a:gdLst/>
            <a:ahLst/>
            <a:cxnLst/>
            <a:rect r="r" b="b" t="t" l="l"/>
            <a:pathLst>
              <a:path h="1427876" w="2950430">
                <a:moveTo>
                  <a:pt x="0" y="0"/>
                </a:moveTo>
                <a:lnTo>
                  <a:pt x="2950430" y="0"/>
                </a:lnTo>
                <a:lnTo>
                  <a:pt x="2950430" y="1427875"/>
                </a:lnTo>
                <a:lnTo>
                  <a:pt x="0" y="1427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25585" y="1472165"/>
            <a:ext cx="5919318" cy="8756682"/>
          </a:xfrm>
          <a:custGeom>
            <a:avLst/>
            <a:gdLst/>
            <a:ahLst/>
            <a:cxnLst/>
            <a:rect r="r" b="b" t="t" l="l"/>
            <a:pathLst>
              <a:path h="8756682" w="5919318">
                <a:moveTo>
                  <a:pt x="0" y="0"/>
                </a:moveTo>
                <a:lnTo>
                  <a:pt x="5919318" y="0"/>
                </a:lnTo>
                <a:lnTo>
                  <a:pt x="5919318" y="8756682"/>
                </a:lnTo>
                <a:lnTo>
                  <a:pt x="0" y="87566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3" r="-893" b="-222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96678" y="304537"/>
            <a:ext cx="9621337" cy="101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91"/>
              </a:lnSpc>
              <a:spcBef>
                <a:spcPct val="0"/>
              </a:spcBef>
            </a:pPr>
            <a:r>
              <a:rPr lang="en-US" b="true" sz="6493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33931" y="2090936"/>
            <a:ext cx="5468635" cy="119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0166" indent="-240083" lvl="1">
              <a:lnSpc>
                <a:spcPts val="3113"/>
              </a:lnSpc>
              <a:spcBef>
                <a:spcPct val="0"/>
              </a:spcBef>
              <a:buFont typeface="Arial"/>
              <a:buChar char="•"/>
            </a:pPr>
            <a:r>
              <a:rPr lang="en-US" sz="2224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Connects farmers with experts &amp; buyers; reduces info gap; promotes collaboration &amp; knowledge sharing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90568" y="3923286"/>
            <a:ext cx="3563806" cy="136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610" indent="-276805" lvl="1">
              <a:lnSpc>
                <a:spcPts val="3589"/>
              </a:lnSpc>
              <a:spcBef>
                <a:spcPct val="0"/>
              </a:spcBef>
              <a:buFont typeface="Arial"/>
              <a:buChar char="•"/>
            </a:pPr>
            <a:r>
              <a:rPr lang="en-US" sz="2564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Higher farmer income, fewer intermediaries.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90568" y="5676178"/>
            <a:ext cx="3869765" cy="189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272" indent="-231136" lvl="1">
              <a:lnSpc>
                <a:spcPts val="2997"/>
              </a:lnSpc>
              <a:spcBef>
                <a:spcPct val="0"/>
              </a:spcBef>
              <a:buFont typeface="Arial"/>
              <a:buChar char="•"/>
            </a:pPr>
            <a:r>
              <a:rPr lang="en-US" sz="2141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Crop &amp; scheme info, modern techniques, expert guidance &amp; knowledge sharing.</a:t>
            </a:r>
          </a:p>
          <a:p>
            <a:pPr algn="l">
              <a:lnSpc>
                <a:spcPts val="2997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885859" y="7189089"/>
            <a:ext cx="3968066" cy="2588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6"/>
              </a:lnSpc>
              <a:spcBef>
                <a:spcPct val="0"/>
              </a:spcBef>
            </a:pPr>
          </a:p>
          <a:p>
            <a:pPr algn="l" marL="522245" indent="-261123" lvl="1">
              <a:lnSpc>
                <a:spcPts val="3386"/>
              </a:lnSpc>
              <a:spcBef>
                <a:spcPct val="0"/>
              </a:spcBef>
              <a:buFont typeface="Arial"/>
              <a:buChar char="•"/>
            </a:pPr>
            <a:r>
              <a:rPr lang="en-US" sz="2418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Single digital platform; digital tools for connections; easy access to agri‑information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251" y="1908580"/>
            <a:ext cx="5016505" cy="115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1"/>
              </a:lnSpc>
              <a:spcBef>
                <a:spcPct val="0"/>
              </a:spcBef>
            </a:pPr>
            <a:r>
              <a:rPr lang="en-US" sz="2179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Increased farmer participation → More farmers actively adopt digital agricultural services.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277" y="5802114"/>
            <a:ext cx="2962203" cy="1847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9"/>
              </a:lnSpc>
              <a:spcBef>
                <a:spcPct val="0"/>
              </a:spcBef>
            </a:pPr>
            <a:r>
              <a:rPr lang="en-US" sz="2120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Improved decision‑making → Timely, accurate information for crop and farming choices.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9165" y="100300"/>
            <a:ext cx="1740180" cy="905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</a:pPr>
            <a:r>
              <a:rPr lang="en-US" sz="2455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Debuggers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277" y="3470720"/>
            <a:ext cx="2861154" cy="192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1"/>
              </a:lnSpc>
              <a:spcBef>
                <a:spcPct val="0"/>
              </a:spcBef>
            </a:pPr>
            <a:r>
              <a:rPr lang="en-US" sz="2179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Better market access → Farmers connect directly with buyers, explore new opportunities.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0378" y="8073283"/>
            <a:ext cx="3747470" cy="136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8"/>
              </a:lnSpc>
              <a:spcBef>
                <a:spcPct val="0"/>
              </a:spcBef>
            </a:pPr>
            <a:r>
              <a:rPr lang="en-US" sz="2556" strike="noStrike" u="none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Higher income → Better market access boosts farmer earnings.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60998"/>
            <a:ext cx="18288000" cy="3422809"/>
          </a:xfrm>
          <a:custGeom>
            <a:avLst/>
            <a:gdLst/>
            <a:ahLst/>
            <a:cxnLst/>
            <a:rect r="r" b="b" t="t" l="l"/>
            <a:pathLst>
              <a:path h="3422809" w="18288000">
                <a:moveTo>
                  <a:pt x="0" y="0"/>
                </a:moveTo>
                <a:lnTo>
                  <a:pt x="18288000" y="0"/>
                </a:lnTo>
                <a:lnTo>
                  <a:pt x="18288000" y="3422809"/>
                </a:lnTo>
                <a:lnTo>
                  <a:pt x="0" y="3422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83343" y="168209"/>
            <a:ext cx="2761560" cy="1303956"/>
            <a:chOff x="0" y="0"/>
            <a:chExt cx="4499699" cy="21246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-90415"/>
            <a:ext cx="2950430" cy="1427876"/>
          </a:xfrm>
          <a:custGeom>
            <a:avLst/>
            <a:gdLst/>
            <a:ahLst/>
            <a:cxnLst/>
            <a:rect r="r" b="b" t="t" l="l"/>
            <a:pathLst>
              <a:path h="1427876" w="2950430">
                <a:moveTo>
                  <a:pt x="0" y="0"/>
                </a:moveTo>
                <a:lnTo>
                  <a:pt x="2950430" y="0"/>
                </a:lnTo>
                <a:lnTo>
                  <a:pt x="2950430" y="1427875"/>
                </a:lnTo>
                <a:lnTo>
                  <a:pt x="0" y="14278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9144000" y="1943138"/>
          <a:ext cx="7543800" cy="6286500"/>
        </p:xfrm>
        <a:graphic>
          <a:graphicData uri="http://schemas.openxmlformats.org/presentationml/2006/ole">
            <p:oleObj imgW="9042400" imgH="77851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3441197" y="312834"/>
            <a:ext cx="10953572" cy="92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69"/>
              </a:lnSpc>
              <a:spcBef>
                <a:spcPct val="0"/>
              </a:spcBef>
            </a:pPr>
            <a:r>
              <a:rPr lang="en-US" b="true" sz="5891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38818" y="1099857"/>
            <a:ext cx="3676507" cy="64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b="true" sz="36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Market research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5125" y="123095"/>
            <a:ext cx="1740180" cy="905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</a:pPr>
            <a:r>
              <a:rPr lang="en-US" sz="2455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Debuggers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154251" y="6427133"/>
            <a:ext cx="8917983" cy="103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98"/>
              </a:lnSpc>
              <a:spcBef>
                <a:spcPct val="0"/>
              </a:spcBef>
            </a:pPr>
            <a:r>
              <a:rPr lang="en-US" sz="2856" strike="noStrike" u="sng">
                <a:solidFill>
                  <a:srgbClr val="008CC2"/>
                </a:solidFill>
                <a:latin typeface="CanvaSansSC-Regular"/>
                <a:ea typeface="CanvaSansSC-Regular"/>
                <a:cs typeface="CanvaSansSC-Regular"/>
                <a:sym typeface="CanvaSansSC-Regular"/>
                <a:hlinkClick r:id="rId9" tooltip="https://krishisetu-fqk5-theta.vercel.app"/>
              </a:rPr>
              <a:t>KrishiSetu (कृषिसेतु) — Multilingual Farmer Market Intelligence &amp; Buyer Platform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1348340"/>
            <a:ext cx="3830593" cy="933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47"/>
              </a:lnSpc>
              <a:spcBef>
                <a:spcPct val="0"/>
              </a:spcBef>
            </a:pPr>
            <a:r>
              <a:rPr lang="en-US" b="true" sz="5319" strike="noStrike" u="non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References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397" y="3066774"/>
            <a:ext cx="7712314" cy="404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4"/>
              </a:lnSpc>
              <a:spcBef>
                <a:spcPct val="0"/>
              </a:spcBef>
            </a:pPr>
            <a:r>
              <a:rPr lang="en-US" sz="2174" strike="noStrike" u="sng">
                <a:solidFill>
                  <a:srgbClr val="008CC2"/>
                </a:solidFill>
                <a:latin typeface="CanvaSansSC-Regular"/>
                <a:ea typeface="CanvaSansSC-Regular"/>
                <a:cs typeface="CanvaSansSC-Regular"/>
                <a:sym typeface="CanvaSansSC-Regular"/>
                <a:hlinkClick r:id="rId10" tooltip="https://arxiv.org/abs/2304.09761"/>
              </a:rPr>
              <a:t>Bhardwaj et al. (2023), Agricultural Crop Price Prediction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986" y="3418999"/>
            <a:ext cx="1152279" cy="51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1"/>
              </a:lnSpc>
              <a:spcBef>
                <a:spcPct val="0"/>
              </a:spcBef>
            </a:pPr>
            <a:r>
              <a:rPr lang="en-US" b="true" sz="2865" strike="noStrike" u="non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e-NAM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55876" y="3835077"/>
            <a:ext cx="4360616" cy="52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98"/>
              </a:lnSpc>
              <a:spcBef>
                <a:spcPct val="0"/>
              </a:spcBef>
            </a:pPr>
            <a:r>
              <a:rPr lang="en-US" sz="2856" strike="noStrike" u="sng">
                <a:solidFill>
                  <a:srgbClr val="008CC2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https://www.enam.gov.in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986" y="5698420"/>
            <a:ext cx="2857859" cy="69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9"/>
              </a:lnSpc>
              <a:spcBef>
                <a:spcPct val="0"/>
              </a:spcBef>
            </a:pPr>
            <a:r>
              <a:rPr lang="en-US" b="true" sz="3971" strike="noStrike" u="non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LiveDemo :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55876" y="4584539"/>
            <a:ext cx="1665803" cy="441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5"/>
              </a:lnSpc>
              <a:spcBef>
                <a:spcPct val="0"/>
              </a:spcBef>
            </a:pPr>
            <a:r>
              <a:rPr lang="en-US" b="true" sz="2511" strike="noStrike" u="non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Agmarknet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0" y="4949380"/>
            <a:ext cx="4248864" cy="52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98"/>
              </a:lnSpc>
              <a:spcBef>
                <a:spcPct val="0"/>
              </a:spcBef>
            </a:pPr>
            <a:r>
              <a:rPr lang="en-US" sz="2856" strike="noStrike" u="sng">
                <a:solidFill>
                  <a:srgbClr val="008CC2"/>
                </a:solidFill>
                <a:latin typeface="CanvaSansSC-Regular"/>
                <a:ea typeface="CanvaSansSC-Regular"/>
                <a:cs typeface="CanvaSansSC-Regular"/>
                <a:sym typeface="CanvaSansSC-Regular"/>
                <a:hlinkClick r:id="rId11" tooltip="https://agmarknet.gov.in"/>
              </a:rPr>
              <a:t>https://agmarknet.gov.in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891" y="2325347"/>
            <a:ext cx="7276148" cy="393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8"/>
              </a:lnSpc>
              <a:spcBef>
                <a:spcPct val="0"/>
              </a:spcBef>
            </a:pPr>
            <a:r>
              <a:rPr lang="en-US" sz="2142" strike="noStrike" u="sng">
                <a:solidFill>
                  <a:srgbClr val="008CC2"/>
                </a:solidFill>
                <a:latin typeface="CanvaSansSC-Regular"/>
                <a:ea typeface="CanvaSansSC-Regular"/>
                <a:cs typeface="CanvaSansSC-Regular"/>
                <a:sym typeface="CanvaSansSC-Regular"/>
                <a:hlinkClick r:id="rId12" tooltip="https://ideas.repec.org/a/tpr/restat/v100y2018i1p1-13.html"/>
              </a:rPr>
              <a:t>Mitra et al. (2018), Review of Economics and Statistics.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8040508"/>
            <a:ext cx="8338818" cy="52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98"/>
              </a:lnSpc>
              <a:spcBef>
                <a:spcPct val="0"/>
              </a:spcBef>
            </a:pPr>
            <a:r>
              <a:rPr lang="en-US" sz="2856" strike="noStrike" u="sng">
                <a:solidFill>
                  <a:srgbClr val="008CC2"/>
                </a:solidFill>
                <a:latin typeface="CanvaSansSC-Regular"/>
                <a:ea typeface="CanvaSansSC-Regular"/>
                <a:cs typeface="CanvaSansSC-Regular"/>
                <a:sym typeface="CanvaSansSC-Regular"/>
                <a:hlinkClick r:id="rId13" tooltip="https://github.com/yatikjain318-dot/krishisetu"/>
              </a:rPr>
              <a:t>GitHub - yatikjain318-dot/krishisetu ·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DAHTfMk95eM</dc:identifier>
  <dcterms:modified xsi:type="dcterms:W3CDTF">2011-08-01T06:04:30Z</dcterms:modified>
  <cp:revision>1</cp:revision>
  <dc:title>SMART INDIA HACKATHON 2025_20250929_102740_0000.pdf</dc:title>
</cp:coreProperties>
</file>